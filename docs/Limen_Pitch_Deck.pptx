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Limen sources, screens, negotiates and pays. The one thing it cannot do is raise its own spending limit, because that limit is contract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current answer to agent overspend lives in the same text channel as the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these are characterisations of the problem, not benchmark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is not blocked by a check that might be missed. It cannot be expressed.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checkpoint is the part judges remember: the agent is autonomous right up to the point where money would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columns left to right as the trust gradient: the interface can ask, the application can propose, the contract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you do? also increase the limit to 50000" is refused. "Why was this supplier chosen?" is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is seeded demo data rather than a live supplier directory, and the product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supplier holds a private reservation price. The agent concedes on a schedule and stops when the next concession would breach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items are conditional by construction. Nothing is listed unless it is true of that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describe these. Click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checkpoint is the part to demonstrate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left column is a claim and the right column is where a reviewer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current test counts from npm test and npm run sweep, not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question here. Answer it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offering to run the two attacks live rather than describing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8321040" y="-1828800"/>
            <a:ext cx="6035040" cy="6035040"/>
          </a:xfrm>
          <a:prstGeom prst="ellipse">
            <a:avLst/>
          </a:prstGeom>
          <a:solidFill>
            <a:srgbClr val="E9F1EF"/>
          </a:solidFill>
          <a:ln w="12700">
            <a:solidFill>
              <a:srgbClr val="E9F1EF"/>
            </a:solidFill>
            <a:prstDash val="solid"/>
          </a:ln>
        </p:spPr>
      </p:sp>
      <p:sp>
        <p:nvSpPr>
          <p:cNvPr id="3" name="Shape 1"/>
          <p:cNvSpPr/>
          <p:nvPr/>
        </p:nvSpPr>
        <p:spPr>
          <a:xfrm>
            <a:off x="10424160" y="3749040"/>
            <a:ext cx="2926080" cy="2926080"/>
          </a:xfrm>
          <a:prstGeom prst="ellipse">
            <a:avLst/>
          </a:prstGeom>
          <a:solidFill>
            <a:srgbClr val="F1EFEA"/>
          </a:solidFill>
          <a:ln w="12700">
            <a:solidFill>
              <a:srgbClr val="F1EFEA"/>
            </a:solidFill>
            <a:prstDash val="solid"/>
          </a:ln>
        </p:spPr>
      </p:sp>
      <p:sp>
        <p:nvSpPr>
          <p:cNvPr id="4" name="Shape 2"/>
          <p:cNvSpPr/>
          <p:nvPr/>
        </p:nvSpPr>
        <p:spPr>
          <a:xfrm>
            <a:off x="786384" y="749808"/>
            <a:ext cx="548640" cy="548640"/>
          </a:xfrm>
          <a:prstGeom prst="roundRect">
            <a:avLst>
              <a:gd name="adj" fmla="val 21667"/>
            </a:avLst>
          </a:prstGeom>
          <a:solidFill>
            <a:srgbClr val="12161A"/>
          </a:solidFill>
          <a:ln w="12700">
            <a:solidFill>
              <a:srgbClr val="12161A"/>
            </a:solidFill>
            <a:prstDash val="solid"/>
          </a:ln>
        </p:spPr>
      </p:sp>
      <p:sp>
        <p:nvSpPr>
          <p:cNvPr id="5" name="Text 3"/>
          <p:cNvSpPr/>
          <p:nvPr/>
        </p:nvSpPr>
        <p:spPr>
          <a:xfrm>
            <a:off x="786384" y="749808"/>
            <a:ext cx="548640" cy="548640"/>
          </a:xfrm>
          <a:prstGeom prst="rect">
            <a:avLst/>
          </a:prstGeom>
          <a:noFill/>
          <a:ln/>
        </p:spPr>
        <p:txBody>
          <a:bodyPr wrap="square" lIns="0" tIns="0" rIns="0" bIns="0"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L</a:t>
            </a:r>
            <a:endParaRPr lang="en-US" sz="2500" dirty="0"/>
          </a:p>
        </p:txBody>
      </p:sp>
      <p:sp>
        <p:nvSpPr>
          <p:cNvPr id="6" name="Text 4"/>
          <p:cNvSpPr/>
          <p:nvPr/>
        </p:nvSpPr>
        <p:spPr>
          <a:xfrm>
            <a:off x="1481328" y="786384"/>
            <a:ext cx="3657600" cy="475488"/>
          </a:xfrm>
          <a:prstGeom prst="rect">
            <a:avLst/>
          </a:prstGeom>
          <a:noFill/>
          <a:ln/>
        </p:spPr>
        <p:txBody>
          <a:bodyPr wrap="square" lIns="0" tIns="0" rIns="0" bIns="0" rtlCol="0" anchor="ctr"/>
          <a:lstStyle/>
          <a:p>
            <a:pPr indent="0" marL="0">
              <a:buNone/>
            </a:pPr>
            <a:r>
              <a:rPr lang="en-US" sz="1400" b="1" spc="300" kern="0" dirty="0">
                <a:solidFill>
                  <a:srgbClr val="101418"/>
                </a:solidFill>
                <a:latin typeface="Calibri" pitchFamily="34" charset="0"/>
                <a:ea typeface="Calibri" pitchFamily="34" charset="-122"/>
                <a:cs typeface="Calibri" pitchFamily="34" charset="-120"/>
              </a:rPr>
              <a:t>LIMEN</a:t>
            </a:r>
            <a:endParaRPr lang="en-US" sz="1400" dirty="0"/>
          </a:p>
        </p:txBody>
      </p:sp>
      <p:sp>
        <p:nvSpPr>
          <p:cNvPr id="7" name="Text 5"/>
          <p:cNvSpPr/>
          <p:nvPr/>
        </p:nvSpPr>
        <p:spPr>
          <a:xfrm>
            <a:off x="786384" y="1828800"/>
            <a:ext cx="6949440" cy="2651760"/>
          </a:xfrm>
          <a:prstGeom prst="rect">
            <a:avLst/>
          </a:prstGeom>
          <a:noFill/>
          <a:ln/>
        </p:spPr>
        <p:txBody>
          <a:bodyPr wrap="square" lIns="0" tIns="0" rIns="0" bIns="0" rtlCol="0" anchor="t"/>
          <a:lstStyle/>
          <a:p>
            <a:pPr indent="0" marL="0">
              <a:lnSpc>
                <a:spcPct val="108000"/>
              </a:lnSpc>
              <a:buNone/>
            </a:pPr>
            <a:r>
              <a:rPr lang="en-US" sz="4000" b="1" dirty="0">
                <a:solidFill>
                  <a:srgbClr val="101418"/>
                </a:solidFill>
                <a:latin typeface="Cambria" pitchFamily="34" charset="0"/>
                <a:ea typeface="Cambria" pitchFamily="34" charset="-122"/>
                <a:cs typeface="Cambria" pitchFamily="34" charset="-120"/>
              </a:rPr>
              <a:t>Hand an agent the</a:t>
            </a:r>
            <a:endParaRPr lang="en-US" sz="4000" dirty="0"/>
          </a:p>
          <a:p>
            <a:pPr indent="0" marL="0">
              <a:lnSpc>
                <a:spcPct val="108000"/>
              </a:lnSpc>
              <a:buNone/>
            </a:pPr>
            <a:r>
              <a:rPr lang="en-US" sz="4000" b="1" dirty="0">
                <a:solidFill>
                  <a:srgbClr val="101418"/>
                </a:solidFill>
                <a:latin typeface="Cambria" pitchFamily="34" charset="0"/>
                <a:ea typeface="Cambria" pitchFamily="34" charset="-122"/>
                <a:cs typeface="Cambria" pitchFamily="34" charset="-120"/>
              </a:rPr>
              <a:t>chequebook.</a:t>
            </a:r>
            <a:endParaRPr lang="en-US" sz="4000" dirty="0"/>
          </a:p>
          <a:p>
            <a:pPr indent="0" marL="0">
              <a:lnSpc>
                <a:spcPct val="108000"/>
              </a:lnSpc>
              <a:buNone/>
            </a:pPr>
            <a:r>
              <a:rPr lang="en-US" sz="4000" b="1" dirty="0">
                <a:solidFill>
                  <a:srgbClr val="101418"/>
                </a:solidFill>
                <a:latin typeface="Cambria" pitchFamily="34" charset="0"/>
                <a:ea typeface="Cambria" pitchFamily="34" charset="-122"/>
                <a:cs typeface="Cambria" pitchFamily="34" charset="-120"/>
              </a:rPr>
              <a:t>Keep the signature.</a:t>
            </a:r>
            <a:endParaRPr lang="en-US" sz="4000" dirty="0"/>
          </a:p>
        </p:txBody>
      </p:sp>
      <p:sp>
        <p:nvSpPr>
          <p:cNvPr id="8" name="Shape 6"/>
          <p:cNvSpPr/>
          <p:nvPr/>
        </p:nvSpPr>
        <p:spPr>
          <a:xfrm>
            <a:off x="822960" y="4626864"/>
            <a:ext cx="822960" cy="0"/>
          </a:xfrm>
          <a:prstGeom prst="line">
            <a:avLst/>
          </a:prstGeom>
          <a:noFill/>
          <a:ln w="31750">
            <a:solidFill>
              <a:srgbClr val="0B5F52"/>
            </a:solidFill>
            <a:prstDash val="solid"/>
          </a:ln>
        </p:spPr>
      </p:sp>
      <p:sp>
        <p:nvSpPr>
          <p:cNvPr id="9" name="Text 7"/>
          <p:cNvSpPr/>
          <p:nvPr/>
        </p:nvSpPr>
        <p:spPr>
          <a:xfrm>
            <a:off x="786384" y="4828032"/>
            <a:ext cx="7132320" cy="548640"/>
          </a:xfrm>
          <a:prstGeom prst="rect">
            <a:avLst/>
          </a:prstGeom>
          <a:noFill/>
          <a:ln/>
        </p:spPr>
        <p:txBody>
          <a:bodyPr wrap="square" lIns="0" tIns="0" rIns="0" bIns="0" rtlCol="0" anchor="t"/>
          <a:lstStyle/>
          <a:p>
            <a:pPr indent="0" marL="0">
              <a:buNone/>
            </a:pPr>
            <a:r>
              <a:rPr lang="en-US" sz="1500" dirty="0">
                <a:solidFill>
                  <a:srgbClr val="47525C"/>
                </a:solidFill>
                <a:latin typeface="Calibri" pitchFamily="34" charset="0"/>
                <a:ea typeface="Calibri" pitchFamily="34" charset="-122"/>
                <a:cs typeface="Calibri" pitchFamily="34" charset="-120"/>
              </a:rPr>
              <a:t>An AI procurement agent whose spending ceiling is enforced by contract state, not by its prompt.</a:t>
            </a:r>
            <a:endParaRPr lang="en-US" sz="1500" dirty="0"/>
          </a:p>
        </p:txBody>
      </p:sp>
      <p:sp>
        <p:nvSpPr>
          <p:cNvPr id="10" name="Shape 8"/>
          <p:cNvSpPr/>
          <p:nvPr/>
        </p:nvSpPr>
        <p:spPr>
          <a:xfrm>
            <a:off x="8138160" y="1920240"/>
            <a:ext cx="3429000" cy="2651760"/>
          </a:xfrm>
          <a:prstGeom prst="roundRect">
            <a:avLst>
              <a:gd name="adj" fmla="val 2414"/>
            </a:avLst>
          </a:prstGeom>
          <a:solidFill>
            <a:srgbClr val="FFFFFF"/>
          </a:solidFill>
          <a:ln w="12700">
            <a:solidFill>
              <a:srgbClr val="D2CEC4"/>
            </a:solidFill>
            <a:prstDash val="solid"/>
          </a:ln>
        </p:spPr>
      </p:sp>
      <p:sp>
        <p:nvSpPr>
          <p:cNvPr id="11" name="Text 9"/>
          <p:cNvSpPr/>
          <p:nvPr/>
        </p:nvSpPr>
        <p:spPr>
          <a:xfrm>
            <a:off x="8412480" y="2139696"/>
            <a:ext cx="2926080" cy="274320"/>
          </a:xfrm>
          <a:prstGeom prst="rect">
            <a:avLst/>
          </a:prstGeom>
          <a:noFill/>
          <a:ln/>
        </p:spPr>
        <p:txBody>
          <a:bodyPr wrap="square" lIns="0" tIns="0" rIns="0" bIns="0" rtlCol="0" anchor="ctr"/>
          <a:lstStyle/>
          <a:p>
            <a:pPr indent="0" marL="0">
              <a:buNone/>
            </a:pPr>
            <a:r>
              <a:rPr lang="en-US" sz="1000" b="1" spc="180" kern="0" dirty="0">
                <a:solidFill>
                  <a:srgbClr val="576169"/>
                </a:solidFill>
                <a:latin typeface="Calibri" pitchFamily="34" charset="0"/>
                <a:ea typeface="Calibri" pitchFamily="34" charset="-122"/>
                <a:cs typeface="Calibri" pitchFamily="34" charset="-120"/>
              </a:rPr>
              <a:t>PER-DEAL CEILING</a:t>
            </a:r>
            <a:endParaRPr lang="en-US" sz="1000" dirty="0"/>
          </a:p>
        </p:txBody>
      </p:sp>
      <p:sp>
        <p:nvSpPr>
          <p:cNvPr id="12" name="Text 10"/>
          <p:cNvSpPr/>
          <p:nvPr/>
        </p:nvSpPr>
        <p:spPr>
          <a:xfrm>
            <a:off x="8412480" y="2414016"/>
            <a:ext cx="2926080" cy="64008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$1,200</a:t>
            </a:r>
            <a:endParaRPr lang="en-US" sz="3200" dirty="0"/>
          </a:p>
        </p:txBody>
      </p:sp>
      <p:sp>
        <p:nvSpPr>
          <p:cNvPr id="13" name="Shape 11"/>
          <p:cNvSpPr/>
          <p:nvPr/>
        </p:nvSpPr>
        <p:spPr>
          <a:xfrm>
            <a:off x="8412480" y="3127248"/>
            <a:ext cx="2880360" cy="0"/>
          </a:xfrm>
          <a:prstGeom prst="line">
            <a:avLst/>
          </a:prstGeom>
          <a:noFill/>
          <a:ln w="12700">
            <a:solidFill>
              <a:srgbClr val="E4E1D9"/>
            </a:solidFill>
            <a:prstDash val="solid"/>
          </a:ln>
        </p:spPr>
      </p:sp>
      <p:sp>
        <p:nvSpPr>
          <p:cNvPr id="14" name="Text 12"/>
          <p:cNvSpPr/>
          <p:nvPr/>
        </p:nvSpPr>
        <p:spPr>
          <a:xfrm>
            <a:off x="8412480" y="3255264"/>
            <a:ext cx="1371600" cy="310896"/>
          </a:xfrm>
          <a:prstGeom prst="rect">
            <a:avLst/>
          </a:prstGeom>
          <a:noFill/>
          <a:ln/>
        </p:spPr>
        <p:txBody>
          <a:bodyPr wrap="square" lIns="0" tIns="0" rIns="0" bIns="0" rtlCol="0" anchor="ctr"/>
          <a:lstStyle/>
          <a:p>
            <a:pPr indent="0" marL="0">
              <a:buNone/>
            </a:pPr>
            <a:r>
              <a:rPr lang="en-US" sz="1300" b="1" dirty="0">
                <a:solidFill>
                  <a:srgbClr val="101418"/>
                </a:solidFill>
                <a:latin typeface="Calibri" pitchFamily="34" charset="0"/>
                <a:ea typeface="Calibri" pitchFamily="34" charset="-122"/>
                <a:cs typeface="Calibri" pitchFamily="34" charset="-120"/>
              </a:rPr>
              <a:t>$1,175</a:t>
            </a:r>
            <a:endParaRPr lang="en-US" sz="1300" dirty="0"/>
          </a:p>
        </p:txBody>
      </p:sp>
      <p:sp>
        <p:nvSpPr>
          <p:cNvPr id="15" name="Shape 13"/>
          <p:cNvSpPr/>
          <p:nvPr/>
        </p:nvSpPr>
        <p:spPr>
          <a:xfrm>
            <a:off x="9921240" y="3291840"/>
            <a:ext cx="896112" cy="237744"/>
          </a:xfrm>
          <a:prstGeom prst="roundRect">
            <a:avLst>
              <a:gd name="adj" fmla="val 50000"/>
            </a:avLst>
          </a:prstGeom>
          <a:solidFill>
            <a:srgbClr val="E9F1EF"/>
          </a:solidFill>
          <a:ln w="12700">
            <a:solidFill>
              <a:srgbClr val="E9F1EF"/>
            </a:solidFill>
            <a:prstDash val="solid"/>
          </a:ln>
        </p:spPr>
      </p:sp>
      <p:sp>
        <p:nvSpPr>
          <p:cNvPr id="16" name="Text 14"/>
          <p:cNvSpPr/>
          <p:nvPr/>
        </p:nvSpPr>
        <p:spPr>
          <a:xfrm>
            <a:off x="9921240" y="3291840"/>
            <a:ext cx="896112" cy="237744"/>
          </a:xfrm>
          <a:prstGeom prst="rect">
            <a:avLst/>
          </a:prstGeom>
          <a:noFill/>
          <a:ln/>
        </p:spPr>
        <p:txBody>
          <a:bodyPr wrap="square" lIns="0" tIns="0" rIns="0" bIns="0" rtlCol="0" anchor="ctr"/>
          <a:lstStyle/>
          <a:p>
            <a:pPr algn="ctr" indent="0" marL="0">
              <a:buNone/>
            </a:pPr>
            <a:r>
              <a:rPr lang="en-US" sz="900" b="1" dirty="0">
                <a:solidFill>
                  <a:srgbClr val="0B5F52"/>
                </a:solidFill>
                <a:latin typeface="Calibri" pitchFamily="34" charset="0"/>
                <a:ea typeface="Calibri" pitchFamily="34" charset="-122"/>
                <a:cs typeface="Calibri" pitchFamily="34" charset="-120"/>
              </a:rPr>
              <a:t>settled</a:t>
            </a:r>
            <a:endParaRPr lang="en-US" sz="900" dirty="0"/>
          </a:p>
        </p:txBody>
      </p:sp>
      <p:sp>
        <p:nvSpPr>
          <p:cNvPr id="17" name="Text 15"/>
          <p:cNvSpPr/>
          <p:nvPr/>
        </p:nvSpPr>
        <p:spPr>
          <a:xfrm>
            <a:off x="8412480" y="3657600"/>
            <a:ext cx="1371600" cy="310896"/>
          </a:xfrm>
          <a:prstGeom prst="rect">
            <a:avLst/>
          </a:prstGeom>
          <a:noFill/>
          <a:ln/>
        </p:spPr>
        <p:txBody>
          <a:bodyPr wrap="square" lIns="0" tIns="0" rIns="0" bIns="0" rtlCol="0" anchor="ctr"/>
          <a:lstStyle/>
          <a:p>
            <a:pPr indent="0" marL="0">
              <a:buNone/>
            </a:pPr>
            <a:r>
              <a:rPr lang="en-US" sz="1300" b="1" dirty="0">
                <a:solidFill>
                  <a:srgbClr val="101418"/>
                </a:solidFill>
                <a:latin typeface="Calibri" pitchFamily="34" charset="0"/>
                <a:ea typeface="Calibri" pitchFamily="34" charset="-122"/>
                <a:cs typeface="Calibri" pitchFamily="34" charset="-120"/>
              </a:rPr>
              <a:t>$1,250</a:t>
            </a:r>
            <a:endParaRPr lang="en-US" sz="1300" dirty="0"/>
          </a:p>
        </p:txBody>
      </p:sp>
      <p:sp>
        <p:nvSpPr>
          <p:cNvPr id="18" name="Shape 16"/>
          <p:cNvSpPr/>
          <p:nvPr/>
        </p:nvSpPr>
        <p:spPr>
          <a:xfrm>
            <a:off x="9921240" y="3694176"/>
            <a:ext cx="896112" cy="237744"/>
          </a:xfrm>
          <a:prstGeom prst="roundRect">
            <a:avLst>
              <a:gd name="adj" fmla="val 50000"/>
            </a:avLst>
          </a:prstGeom>
          <a:solidFill>
            <a:srgbClr val="FBEDEF"/>
          </a:solidFill>
          <a:ln w="12700">
            <a:solidFill>
              <a:srgbClr val="FBEDEF"/>
            </a:solidFill>
            <a:prstDash val="solid"/>
          </a:ln>
        </p:spPr>
      </p:sp>
      <p:sp>
        <p:nvSpPr>
          <p:cNvPr id="19" name="Text 17"/>
          <p:cNvSpPr/>
          <p:nvPr/>
        </p:nvSpPr>
        <p:spPr>
          <a:xfrm>
            <a:off x="9921240" y="3694176"/>
            <a:ext cx="896112" cy="237744"/>
          </a:xfrm>
          <a:prstGeom prst="rect">
            <a:avLst/>
          </a:prstGeom>
          <a:noFill/>
          <a:ln/>
        </p:spPr>
        <p:txBody>
          <a:bodyPr wrap="square" lIns="0" tIns="0" rIns="0" bIns="0" rtlCol="0" anchor="ctr"/>
          <a:lstStyle/>
          <a:p>
            <a:pPr algn="ctr" indent="0" marL="0">
              <a:buNone/>
            </a:pPr>
            <a:r>
              <a:rPr lang="en-US" sz="900" b="1" dirty="0">
                <a:solidFill>
                  <a:srgbClr val="9E1F33"/>
                </a:solidFill>
                <a:latin typeface="Calibri" pitchFamily="34" charset="0"/>
                <a:ea typeface="Calibri" pitchFamily="34" charset="-122"/>
                <a:cs typeface="Calibri" pitchFamily="34" charset="-120"/>
              </a:rPr>
              <a:t>reverted</a:t>
            </a:r>
            <a:endParaRPr lang="en-US" sz="900" dirty="0"/>
          </a:p>
        </p:txBody>
      </p:sp>
      <p:sp>
        <p:nvSpPr>
          <p:cNvPr id="20" name="Text 18"/>
          <p:cNvSpPr/>
          <p:nvPr/>
        </p:nvSpPr>
        <p:spPr>
          <a:xfrm>
            <a:off x="8412480" y="4059936"/>
            <a:ext cx="1371600" cy="310896"/>
          </a:xfrm>
          <a:prstGeom prst="rect">
            <a:avLst/>
          </a:prstGeom>
          <a:noFill/>
          <a:ln/>
        </p:spPr>
        <p:txBody>
          <a:bodyPr wrap="square" lIns="0" tIns="0" rIns="0" bIns="0" rtlCol="0" anchor="ctr"/>
          <a:lstStyle/>
          <a:p>
            <a:pPr indent="0" marL="0">
              <a:buNone/>
            </a:pPr>
            <a:r>
              <a:rPr lang="en-US" sz="1300" b="1" dirty="0">
                <a:solidFill>
                  <a:srgbClr val="101418"/>
                </a:solidFill>
                <a:latin typeface="Calibri" pitchFamily="34" charset="0"/>
                <a:ea typeface="Calibri" pitchFamily="34" charset="-122"/>
                <a:cs typeface="Calibri" pitchFamily="34" charset="-120"/>
              </a:rPr>
              <a:t>$1,000,000</a:t>
            </a:r>
            <a:endParaRPr lang="en-US" sz="1300" dirty="0"/>
          </a:p>
        </p:txBody>
      </p:sp>
      <p:sp>
        <p:nvSpPr>
          <p:cNvPr id="21" name="Shape 19"/>
          <p:cNvSpPr/>
          <p:nvPr/>
        </p:nvSpPr>
        <p:spPr>
          <a:xfrm>
            <a:off x="9921240" y="4096512"/>
            <a:ext cx="896112" cy="237744"/>
          </a:xfrm>
          <a:prstGeom prst="roundRect">
            <a:avLst>
              <a:gd name="adj" fmla="val 50000"/>
            </a:avLst>
          </a:prstGeom>
          <a:solidFill>
            <a:srgbClr val="FBEDEF"/>
          </a:solidFill>
          <a:ln w="12700">
            <a:solidFill>
              <a:srgbClr val="FBEDEF"/>
            </a:solidFill>
            <a:prstDash val="solid"/>
          </a:ln>
        </p:spPr>
      </p:sp>
      <p:sp>
        <p:nvSpPr>
          <p:cNvPr id="22" name="Text 20"/>
          <p:cNvSpPr/>
          <p:nvPr/>
        </p:nvSpPr>
        <p:spPr>
          <a:xfrm>
            <a:off x="9921240" y="4096512"/>
            <a:ext cx="896112" cy="237744"/>
          </a:xfrm>
          <a:prstGeom prst="rect">
            <a:avLst/>
          </a:prstGeom>
          <a:noFill/>
          <a:ln/>
        </p:spPr>
        <p:txBody>
          <a:bodyPr wrap="square" lIns="0" tIns="0" rIns="0" bIns="0" rtlCol="0" anchor="ctr"/>
          <a:lstStyle/>
          <a:p>
            <a:pPr algn="ctr" indent="0" marL="0">
              <a:buNone/>
            </a:pPr>
            <a:r>
              <a:rPr lang="en-US" sz="900" b="1" dirty="0">
                <a:solidFill>
                  <a:srgbClr val="9E1F33"/>
                </a:solidFill>
                <a:latin typeface="Calibri" pitchFamily="34" charset="0"/>
                <a:ea typeface="Calibri" pitchFamily="34" charset="-122"/>
                <a:cs typeface="Calibri" pitchFamily="34" charset="-120"/>
              </a:rPr>
              <a:t>reverted</a:t>
            </a:r>
            <a:endParaRPr lang="en-US" sz="900" dirty="0"/>
          </a:p>
        </p:txBody>
      </p:sp>
      <p:sp>
        <p:nvSpPr>
          <p:cNvPr id="23" name="Text 21"/>
          <p:cNvSpPr/>
          <p:nvPr/>
        </p:nvSpPr>
        <p:spPr>
          <a:xfrm>
            <a:off x="786384" y="6035040"/>
            <a:ext cx="10607040" cy="365760"/>
          </a:xfrm>
          <a:prstGeom prst="rect">
            <a:avLst/>
          </a:prstGeom>
          <a:noFill/>
          <a:ln/>
        </p:spPr>
        <p:txBody>
          <a:bodyPr wrap="square" lIns="0" tIns="0" rIns="0" bIns="0" rtlCol="0" anchor="ctr"/>
          <a:lstStyle/>
          <a:p>
            <a:pPr indent="0" marL="0">
              <a:buNone/>
            </a:pPr>
            <a:r>
              <a:rPr lang="en-US" sz="1150" dirty="0">
                <a:solidFill>
                  <a:srgbClr val="576169"/>
                </a:solidFill>
                <a:latin typeface="Calibri" pitchFamily="34" charset="0"/>
                <a:ea typeface="Calibri" pitchFamily="34" charset="-122"/>
                <a:cs typeface="Calibri" pitchFamily="34" charset="-120"/>
              </a:rPr>
              <a:t>Nexara9   ·   RizeOS Hackathon, AI Track   ·   covenant-j1op.onrender.com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We are handing agents the card</a:t>
            </a:r>
            <a:endParaRPr lang="en-US" sz="3200" dirty="0"/>
          </a:p>
        </p:txBody>
      </p:sp>
      <p:sp>
        <p:nvSpPr>
          <p:cNvPr id="4" name="Shape 2"/>
          <p:cNvSpPr/>
          <p:nvPr/>
        </p:nvSpPr>
        <p:spPr>
          <a:xfrm>
            <a:off x="658368" y="1828800"/>
            <a:ext cx="5852160" cy="1060704"/>
          </a:xfrm>
          <a:prstGeom prst="roundRect">
            <a:avLst>
              <a:gd name="adj" fmla="val 6034"/>
            </a:avLst>
          </a:prstGeom>
          <a:solidFill>
            <a:srgbClr val="FFFFFF"/>
          </a:solidFill>
          <a:ln w="12700">
            <a:solidFill>
              <a:srgbClr val="D2CEC4"/>
            </a:solidFill>
            <a:prstDash val="solid"/>
          </a:ln>
        </p:spPr>
      </p:sp>
      <p:sp>
        <p:nvSpPr>
          <p:cNvPr id="5" name="Shape 3"/>
          <p:cNvSpPr/>
          <p:nvPr/>
        </p:nvSpPr>
        <p:spPr>
          <a:xfrm>
            <a:off x="877824" y="2157984"/>
            <a:ext cx="365760" cy="365760"/>
          </a:xfrm>
          <a:prstGeom prst="ellipse">
            <a:avLst/>
          </a:prstGeom>
          <a:solidFill>
            <a:srgbClr val="9E1F33"/>
          </a:solidFill>
          <a:ln w="12700">
            <a:solidFill>
              <a:srgbClr val="9E1F33"/>
            </a:solidFill>
            <a:prstDash val="solid"/>
          </a:ln>
        </p:spPr>
      </p:sp>
      <p:sp>
        <p:nvSpPr>
          <p:cNvPr id="6" name="Text 4"/>
          <p:cNvSpPr/>
          <p:nvPr/>
        </p:nvSpPr>
        <p:spPr>
          <a:xfrm>
            <a:off x="877824" y="215798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1426464" y="1975104"/>
            <a:ext cx="4937760" cy="310896"/>
          </a:xfrm>
          <a:prstGeom prst="rect">
            <a:avLst/>
          </a:prstGeom>
          <a:noFill/>
          <a:ln/>
        </p:spPr>
        <p:txBody>
          <a:bodyPr wrap="square" lIns="0" tIns="0" rIns="0" bIns="0" rtlCol="0" anchor="ctr"/>
          <a:lstStyle/>
          <a:p>
            <a:pPr indent="0" marL="0">
              <a:buNone/>
            </a:pPr>
            <a:r>
              <a:rPr lang="en-US" sz="1450" b="1" dirty="0">
                <a:solidFill>
                  <a:srgbClr val="101418"/>
                </a:solidFill>
                <a:latin typeface="Calibri" pitchFamily="34" charset="0"/>
                <a:ea typeface="Calibri" pitchFamily="34" charset="-122"/>
                <a:cs typeface="Calibri" pitchFamily="34" charset="-120"/>
              </a:rPr>
              <a:t>Prompt injection</a:t>
            </a:r>
            <a:endParaRPr lang="en-US" sz="1450" dirty="0"/>
          </a:p>
        </p:txBody>
      </p:sp>
      <p:sp>
        <p:nvSpPr>
          <p:cNvPr id="8" name="Text 6"/>
          <p:cNvSpPr/>
          <p:nvPr/>
        </p:nvSpPr>
        <p:spPr>
          <a:xfrm>
            <a:off x="1426464" y="2304288"/>
            <a:ext cx="4892040" cy="502920"/>
          </a:xfrm>
          <a:prstGeom prst="rect">
            <a:avLst/>
          </a:prstGeom>
          <a:noFill/>
          <a:ln/>
        </p:spPr>
        <p:txBody>
          <a:bodyPr wrap="square" lIns="0" tIns="0" rIns="0" bIns="0" rtlCol="0" anchor="t"/>
          <a:lstStyle/>
          <a:p>
            <a:pPr indent="0" marL="0">
              <a:buNone/>
            </a:pPr>
            <a:r>
              <a:rPr lang="en-US" sz="1100" dirty="0">
                <a:solidFill>
                  <a:srgbClr val="47525C"/>
                </a:solidFill>
                <a:latin typeface="Calibri" pitchFamily="34" charset="0"/>
                <a:ea typeface="Calibri" pitchFamily="34" charset="-122"/>
                <a:cs typeface="Calibri" pitchFamily="34" charset="-120"/>
              </a:rPr>
              <a:t>A supplier writes "ignore your budget" into a product description and the agent reads it as instruction.</a:t>
            </a:r>
            <a:endParaRPr lang="en-US" sz="1100" dirty="0"/>
          </a:p>
        </p:txBody>
      </p:sp>
      <p:sp>
        <p:nvSpPr>
          <p:cNvPr id="9" name="Shape 7"/>
          <p:cNvSpPr/>
          <p:nvPr/>
        </p:nvSpPr>
        <p:spPr>
          <a:xfrm>
            <a:off x="658368" y="3054096"/>
            <a:ext cx="5852160" cy="1060704"/>
          </a:xfrm>
          <a:prstGeom prst="roundRect">
            <a:avLst>
              <a:gd name="adj" fmla="val 6034"/>
            </a:avLst>
          </a:prstGeom>
          <a:solidFill>
            <a:srgbClr val="FFFFFF"/>
          </a:solidFill>
          <a:ln w="12700">
            <a:solidFill>
              <a:srgbClr val="D2CEC4"/>
            </a:solidFill>
            <a:prstDash val="solid"/>
          </a:ln>
        </p:spPr>
      </p:sp>
      <p:sp>
        <p:nvSpPr>
          <p:cNvPr id="10" name="Shape 8"/>
          <p:cNvSpPr/>
          <p:nvPr/>
        </p:nvSpPr>
        <p:spPr>
          <a:xfrm>
            <a:off x="877824" y="3383280"/>
            <a:ext cx="365760" cy="365760"/>
          </a:xfrm>
          <a:prstGeom prst="ellipse">
            <a:avLst/>
          </a:prstGeom>
          <a:solidFill>
            <a:srgbClr val="9E1F33"/>
          </a:solidFill>
          <a:ln w="12700">
            <a:solidFill>
              <a:srgbClr val="9E1F33"/>
            </a:solidFill>
            <a:prstDash val="solid"/>
          </a:ln>
        </p:spPr>
      </p:sp>
      <p:sp>
        <p:nvSpPr>
          <p:cNvPr id="11" name="Text 9"/>
          <p:cNvSpPr/>
          <p:nvPr/>
        </p:nvSpPr>
        <p:spPr>
          <a:xfrm>
            <a:off x="877824" y="33832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p:nvPr/>
        </p:nvSpPr>
        <p:spPr>
          <a:xfrm>
            <a:off x="1426464" y="3200400"/>
            <a:ext cx="4937760" cy="310896"/>
          </a:xfrm>
          <a:prstGeom prst="rect">
            <a:avLst/>
          </a:prstGeom>
          <a:noFill/>
          <a:ln/>
        </p:spPr>
        <p:txBody>
          <a:bodyPr wrap="square" lIns="0" tIns="0" rIns="0" bIns="0" rtlCol="0" anchor="ctr"/>
          <a:lstStyle/>
          <a:p>
            <a:pPr indent="0" marL="0">
              <a:buNone/>
            </a:pPr>
            <a:r>
              <a:rPr lang="en-US" sz="1450" b="1" dirty="0">
                <a:solidFill>
                  <a:srgbClr val="101418"/>
                </a:solidFill>
                <a:latin typeface="Calibri" pitchFamily="34" charset="0"/>
                <a:ea typeface="Calibri" pitchFamily="34" charset="-122"/>
                <a:cs typeface="Calibri" pitchFamily="34" charset="-120"/>
              </a:rPr>
              <a:t>Bad or stale data</a:t>
            </a:r>
            <a:endParaRPr lang="en-US" sz="1450" dirty="0"/>
          </a:p>
        </p:txBody>
      </p:sp>
      <p:sp>
        <p:nvSpPr>
          <p:cNvPr id="13" name="Text 11"/>
          <p:cNvSpPr/>
          <p:nvPr/>
        </p:nvSpPr>
        <p:spPr>
          <a:xfrm>
            <a:off x="1426464" y="3529584"/>
            <a:ext cx="4892040" cy="502920"/>
          </a:xfrm>
          <a:prstGeom prst="rect">
            <a:avLst/>
          </a:prstGeom>
          <a:noFill/>
          <a:ln/>
        </p:spPr>
        <p:txBody>
          <a:bodyPr wrap="square" lIns="0" tIns="0" rIns="0" bIns="0" rtlCol="0" anchor="t"/>
          <a:lstStyle/>
          <a:p>
            <a:pPr indent="0" marL="0">
              <a:buNone/>
            </a:pPr>
            <a:r>
              <a:rPr lang="en-US" sz="1100" dirty="0">
                <a:solidFill>
                  <a:srgbClr val="47525C"/>
                </a:solidFill>
                <a:latin typeface="Calibri" pitchFamily="34" charset="0"/>
                <a:ea typeface="Calibri" pitchFamily="34" charset="-122"/>
                <a:cs typeface="Calibri" pitchFamily="34" charset="-120"/>
              </a:rPr>
              <a:t>A mispriced listing, a wrong unit, a currency confusion. The agent commits before anyone notices.</a:t>
            </a:r>
            <a:endParaRPr lang="en-US" sz="1100" dirty="0"/>
          </a:p>
        </p:txBody>
      </p:sp>
      <p:sp>
        <p:nvSpPr>
          <p:cNvPr id="14" name="Shape 12"/>
          <p:cNvSpPr/>
          <p:nvPr/>
        </p:nvSpPr>
        <p:spPr>
          <a:xfrm>
            <a:off x="658368" y="4279392"/>
            <a:ext cx="5852160" cy="1060704"/>
          </a:xfrm>
          <a:prstGeom prst="roundRect">
            <a:avLst>
              <a:gd name="adj" fmla="val 6034"/>
            </a:avLst>
          </a:prstGeom>
          <a:solidFill>
            <a:srgbClr val="FFFFFF"/>
          </a:solidFill>
          <a:ln w="12700">
            <a:solidFill>
              <a:srgbClr val="D2CEC4"/>
            </a:solidFill>
            <a:prstDash val="solid"/>
          </a:ln>
        </p:spPr>
      </p:sp>
      <p:sp>
        <p:nvSpPr>
          <p:cNvPr id="15" name="Shape 13"/>
          <p:cNvSpPr/>
          <p:nvPr/>
        </p:nvSpPr>
        <p:spPr>
          <a:xfrm>
            <a:off x="877824" y="4608576"/>
            <a:ext cx="365760" cy="365760"/>
          </a:xfrm>
          <a:prstGeom prst="ellipse">
            <a:avLst/>
          </a:prstGeom>
          <a:solidFill>
            <a:srgbClr val="9E1F33"/>
          </a:solidFill>
          <a:ln w="12700">
            <a:solidFill>
              <a:srgbClr val="9E1F33"/>
            </a:solidFill>
            <a:prstDash val="solid"/>
          </a:ln>
        </p:spPr>
      </p:sp>
      <p:sp>
        <p:nvSpPr>
          <p:cNvPr id="16" name="Text 14"/>
          <p:cNvSpPr/>
          <p:nvPr/>
        </p:nvSpPr>
        <p:spPr>
          <a:xfrm>
            <a:off x="877824" y="460857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426464" y="4425696"/>
            <a:ext cx="4937760" cy="310896"/>
          </a:xfrm>
          <a:prstGeom prst="rect">
            <a:avLst/>
          </a:prstGeom>
          <a:noFill/>
          <a:ln/>
        </p:spPr>
        <p:txBody>
          <a:bodyPr wrap="square" lIns="0" tIns="0" rIns="0" bIns="0" rtlCol="0" anchor="ctr"/>
          <a:lstStyle/>
          <a:p>
            <a:pPr indent="0" marL="0">
              <a:buNone/>
            </a:pPr>
            <a:r>
              <a:rPr lang="en-US" sz="1450" b="1" dirty="0">
                <a:solidFill>
                  <a:srgbClr val="101418"/>
                </a:solidFill>
                <a:latin typeface="Calibri" pitchFamily="34" charset="0"/>
                <a:ea typeface="Calibri" pitchFamily="34" charset="-122"/>
                <a:cs typeface="Calibri" pitchFamily="34" charset="-120"/>
              </a:rPr>
              <a:t>Model drift</a:t>
            </a:r>
            <a:endParaRPr lang="en-US" sz="1450" dirty="0"/>
          </a:p>
        </p:txBody>
      </p:sp>
      <p:sp>
        <p:nvSpPr>
          <p:cNvPr id="18" name="Text 16"/>
          <p:cNvSpPr/>
          <p:nvPr/>
        </p:nvSpPr>
        <p:spPr>
          <a:xfrm>
            <a:off x="1426464" y="4754880"/>
            <a:ext cx="4892040" cy="502920"/>
          </a:xfrm>
          <a:prstGeom prst="rect">
            <a:avLst/>
          </a:prstGeom>
          <a:noFill/>
          <a:ln/>
        </p:spPr>
        <p:txBody>
          <a:bodyPr wrap="square" lIns="0" tIns="0" rIns="0" bIns="0" rtlCol="0" anchor="t"/>
          <a:lstStyle/>
          <a:p>
            <a:pPr indent="0" marL="0">
              <a:buNone/>
            </a:pPr>
            <a:r>
              <a:rPr lang="en-US" sz="1100" dirty="0">
                <a:solidFill>
                  <a:srgbClr val="47525C"/>
                </a:solidFill>
                <a:latin typeface="Calibri" pitchFamily="34" charset="0"/>
                <a:ea typeface="Calibri" pitchFamily="34" charset="-122"/>
                <a:cs typeface="Calibri" pitchFamily="34" charset="-120"/>
              </a:rPr>
              <a:t>The model that behaved last month is not the model running today.</a:t>
            </a:r>
            <a:endParaRPr lang="en-US" sz="1100" dirty="0"/>
          </a:p>
        </p:txBody>
      </p:sp>
      <p:sp>
        <p:nvSpPr>
          <p:cNvPr id="19" name="Shape 17"/>
          <p:cNvSpPr/>
          <p:nvPr/>
        </p:nvSpPr>
        <p:spPr>
          <a:xfrm>
            <a:off x="6858000" y="1828800"/>
            <a:ext cx="4663440" cy="3364992"/>
          </a:xfrm>
          <a:prstGeom prst="roundRect">
            <a:avLst>
              <a:gd name="adj" fmla="val 1902"/>
            </a:avLst>
          </a:prstGeom>
          <a:solidFill>
            <a:srgbClr val="12161A"/>
          </a:solidFill>
          <a:ln w="12700">
            <a:solidFill>
              <a:srgbClr val="12161A"/>
            </a:solidFill>
            <a:prstDash val="solid"/>
          </a:ln>
        </p:spPr>
      </p:sp>
      <p:sp>
        <p:nvSpPr>
          <p:cNvPr id="20" name="Text 18"/>
          <p:cNvSpPr/>
          <p:nvPr/>
        </p:nvSpPr>
        <p:spPr>
          <a:xfrm>
            <a:off x="7168896" y="2066544"/>
            <a:ext cx="4023360" cy="292608"/>
          </a:xfrm>
          <a:prstGeom prst="rect">
            <a:avLst/>
          </a:prstGeom>
          <a:noFill/>
          <a:ln/>
        </p:spPr>
        <p:txBody>
          <a:bodyPr wrap="square" lIns="0" tIns="0" rIns="0" bIns="0" rtlCol="0" anchor="ctr"/>
          <a:lstStyle/>
          <a:p>
            <a:pPr indent="0" marL="0">
              <a:buNone/>
            </a:pPr>
            <a:r>
              <a:rPr lang="en-US" sz="1050" b="1" spc="200" kern="0" dirty="0">
                <a:solidFill>
                  <a:srgbClr val="3FBFA3"/>
                </a:solidFill>
                <a:latin typeface="Calibri" pitchFamily="34" charset="0"/>
                <a:ea typeface="Calibri" pitchFamily="34" charset="-122"/>
                <a:cs typeface="Calibri" pitchFamily="34" charset="-120"/>
              </a:rPr>
              <a:t>THE USUAL DEFENCE</a:t>
            </a:r>
            <a:endParaRPr lang="en-US" sz="1050" dirty="0"/>
          </a:p>
        </p:txBody>
      </p:sp>
      <p:sp>
        <p:nvSpPr>
          <p:cNvPr id="21" name="Text 19"/>
          <p:cNvSpPr/>
          <p:nvPr/>
        </p:nvSpPr>
        <p:spPr>
          <a:xfrm>
            <a:off x="7168896" y="2487168"/>
            <a:ext cx="4023360" cy="1005840"/>
          </a:xfrm>
          <a:prstGeom prst="rect">
            <a:avLst/>
          </a:prstGeom>
          <a:noFill/>
          <a:ln/>
        </p:spPr>
        <p:txBody>
          <a:bodyPr wrap="square" lIns="0" tIns="0" rIns="0" bIns="0" rtlCol="0" anchor="t"/>
          <a:lstStyle/>
          <a:p>
            <a:pPr indent="0" marL="0">
              <a:buNone/>
            </a:pPr>
            <a:r>
              <a:rPr lang="en-US" sz="2000" i="1" dirty="0">
                <a:solidFill>
                  <a:srgbClr val="FFFFFF"/>
                </a:solidFill>
                <a:latin typeface="Cambria" pitchFamily="34" charset="0"/>
                <a:ea typeface="Cambria" pitchFamily="34" charset="-122"/>
                <a:cs typeface="Cambria" pitchFamily="34" charset="-120"/>
              </a:rPr>
              <a:t>"You must never spend</a:t>
            </a:r>
            <a:endParaRPr lang="en-US" sz="2000" dirty="0"/>
          </a:p>
          <a:p>
            <a:pPr indent="0" marL="0">
              <a:buNone/>
            </a:pPr>
            <a:r>
              <a:rPr lang="en-US" sz="2000" i="1" dirty="0">
                <a:solidFill>
                  <a:srgbClr val="FFFFFF"/>
                </a:solidFill>
                <a:latin typeface="Cambria" pitchFamily="34" charset="0"/>
                <a:ea typeface="Cambria" pitchFamily="34" charset="-122"/>
                <a:cs typeface="Cambria" pitchFamily="34" charset="-120"/>
              </a:rPr>
              <a:t>more than $1,200."</a:t>
            </a:r>
            <a:endParaRPr lang="en-US" sz="2000" dirty="0"/>
          </a:p>
        </p:txBody>
      </p:sp>
      <p:sp>
        <p:nvSpPr>
          <p:cNvPr id="22" name="Text 20"/>
          <p:cNvSpPr/>
          <p:nvPr/>
        </p:nvSpPr>
        <p:spPr>
          <a:xfrm>
            <a:off x="7168896" y="3803904"/>
            <a:ext cx="4023360" cy="1188720"/>
          </a:xfrm>
          <a:prstGeom prst="rect">
            <a:avLst/>
          </a:prstGeom>
          <a:noFill/>
          <a:ln/>
        </p:spPr>
        <p:txBody>
          <a:bodyPr wrap="square" lIns="0" tIns="0" rIns="0" bIns="0" rtlCol="0" anchor="t"/>
          <a:lstStyle/>
          <a:p>
            <a:pPr indent="0" marL="0">
              <a:buNone/>
            </a:pPr>
            <a:r>
              <a:rPr lang="en-US" sz="1250" dirty="0">
                <a:solidFill>
                  <a:srgbClr val="C3DCD5"/>
                </a:solidFill>
                <a:latin typeface="Calibri" pitchFamily="34" charset="0"/>
                <a:ea typeface="Calibri" pitchFamily="34" charset="-122"/>
                <a:cs typeface="Calibri" pitchFamily="34" charset="-120"/>
              </a:rPr>
              <a:t>A request, not a control. It arrives in the same channel as the attack, is read by the same model, and fails silently the first time the model is wrong.</a:t>
            </a:r>
            <a:endParaRPr lang="en-US" sz="1250" dirty="0"/>
          </a:p>
        </p:txBody>
      </p:sp>
      <p:sp>
        <p:nvSpPr>
          <p:cNvPr id="23" name="Text 21"/>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An instruction the agent could ignore is not a spending limit.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WHY IT MATTERS</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The failure is silent, and it is financial</a:t>
            </a:r>
            <a:endParaRPr lang="en-US" sz="3200" dirty="0"/>
          </a:p>
        </p:txBody>
      </p:sp>
      <p:sp>
        <p:nvSpPr>
          <p:cNvPr id="4" name="Text 2"/>
          <p:cNvSpPr/>
          <p:nvPr/>
        </p:nvSpPr>
        <p:spPr>
          <a:xfrm>
            <a:off x="658368" y="1920240"/>
            <a:ext cx="2651760" cy="621792"/>
          </a:xfrm>
          <a:prstGeom prst="rect">
            <a:avLst/>
          </a:prstGeom>
          <a:noFill/>
          <a:ln/>
        </p:spPr>
        <p:txBody>
          <a:bodyPr wrap="square" lIns="0" tIns="0" rIns="0" bIns="0" rtlCol="0" anchor="b"/>
          <a:lstStyle/>
          <a:p>
            <a:pPr indent="0" marL="0">
              <a:buNone/>
            </a:pPr>
            <a:r>
              <a:rPr lang="en-US" sz="3800" b="1" dirty="0">
                <a:solidFill>
                  <a:srgbClr val="9E1F33"/>
                </a:solidFill>
                <a:latin typeface="Cambria" pitchFamily="34" charset="0"/>
                <a:ea typeface="Cambria" pitchFamily="34" charset="-122"/>
                <a:cs typeface="Cambria" pitchFamily="34" charset="-120"/>
              </a:rPr>
              <a:t>100%</a:t>
            </a:r>
            <a:endParaRPr lang="en-US" sz="3800" dirty="0"/>
          </a:p>
        </p:txBody>
      </p:sp>
      <p:sp>
        <p:nvSpPr>
          <p:cNvPr id="5" name="Text 3"/>
          <p:cNvSpPr/>
          <p:nvPr/>
        </p:nvSpPr>
        <p:spPr>
          <a:xfrm>
            <a:off x="658368" y="2560320"/>
            <a:ext cx="265176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of the guardrail lives in text the model can be talked out of</a:t>
            </a:r>
            <a:endParaRPr lang="en-US" sz="1150" dirty="0"/>
          </a:p>
        </p:txBody>
      </p:sp>
      <p:sp>
        <p:nvSpPr>
          <p:cNvPr id="6" name="Text 4"/>
          <p:cNvSpPr/>
          <p:nvPr/>
        </p:nvSpPr>
        <p:spPr>
          <a:xfrm>
            <a:off x="3566160" y="1920240"/>
            <a:ext cx="2651760" cy="621792"/>
          </a:xfrm>
          <a:prstGeom prst="rect">
            <a:avLst/>
          </a:prstGeom>
          <a:noFill/>
          <a:ln/>
        </p:spPr>
        <p:txBody>
          <a:bodyPr wrap="square" lIns="0" tIns="0" rIns="0" bIns="0" rtlCol="0" anchor="b"/>
          <a:lstStyle/>
          <a:p>
            <a:pPr indent="0" marL="0">
              <a:buNone/>
            </a:pPr>
            <a:r>
              <a:rPr lang="en-US" sz="3800" b="1" dirty="0">
                <a:solidFill>
                  <a:srgbClr val="9E1F33"/>
                </a:solidFill>
                <a:latin typeface="Cambria" pitchFamily="34" charset="0"/>
                <a:ea typeface="Cambria" pitchFamily="34" charset="-122"/>
                <a:cs typeface="Cambria" pitchFamily="34" charset="-120"/>
              </a:rPr>
              <a:t>0</a:t>
            </a:r>
            <a:endParaRPr lang="en-US" sz="3800" dirty="0"/>
          </a:p>
        </p:txBody>
      </p:sp>
      <p:sp>
        <p:nvSpPr>
          <p:cNvPr id="7" name="Text 5"/>
          <p:cNvSpPr/>
          <p:nvPr/>
        </p:nvSpPr>
        <p:spPr>
          <a:xfrm>
            <a:off x="3566160" y="2560320"/>
            <a:ext cx="265176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signals raised when a prompt-level limit is ignored</a:t>
            </a:r>
            <a:endParaRPr lang="en-US" sz="1150" dirty="0"/>
          </a:p>
        </p:txBody>
      </p:sp>
      <p:sp>
        <p:nvSpPr>
          <p:cNvPr id="8" name="Text 6"/>
          <p:cNvSpPr/>
          <p:nvPr/>
        </p:nvSpPr>
        <p:spPr>
          <a:xfrm>
            <a:off x="6492240" y="1920240"/>
            <a:ext cx="265176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a:t>
            </a:r>
            <a:endParaRPr lang="en-US" sz="3800" dirty="0"/>
          </a:p>
        </p:txBody>
      </p:sp>
      <p:sp>
        <p:nvSpPr>
          <p:cNvPr id="9" name="Text 7"/>
          <p:cNvSpPr/>
          <p:nvPr/>
        </p:nvSpPr>
        <p:spPr>
          <a:xfrm>
            <a:off x="6492240" y="2560320"/>
            <a:ext cx="265176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transaction is all it takes to be irreversible</a:t>
            </a:r>
            <a:endParaRPr lang="en-US" sz="1150" dirty="0"/>
          </a:p>
        </p:txBody>
      </p:sp>
      <p:sp>
        <p:nvSpPr>
          <p:cNvPr id="10" name="Text 8"/>
          <p:cNvSpPr/>
          <p:nvPr/>
        </p:nvSpPr>
        <p:spPr>
          <a:xfrm>
            <a:off x="9326880" y="1920240"/>
            <a:ext cx="228600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$0</a:t>
            </a:r>
            <a:endParaRPr lang="en-US" sz="3800" dirty="0"/>
          </a:p>
        </p:txBody>
      </p:sp>
      <p:sp>
        <p:nvSpPr>
          <p:cNvPr id="11" name="Text 9"/>
          <p:cNvSpPr/>
          <p:nvPr/>
        </p:nvSpPr>
        <p:spPr>
          <a:xfrm>
            <a:off x="9326880" y="2560320"/>
            <a:ext cx="228600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recoverable once funds have left escrow</a:t>
            </a:r>
            <a:endParaRPr lang="en-US" sz="1150" dirty="0"/>
          </a:p>
        </p:txBody>
      </p:sp>
      <p:sp>
        <p:nvSpPr>
          <p:cNvPr id="12" name="Shape 10"/>
          <p:cNvSpPr/>
          <p:nvPr/>
        </p:nvSpPr>
        <p:spPr>
          <a:xfrm>
            <a:off x="658368" y="3931920"/>
            <a:ext cx="10881360" cy="1371600"/>
          </a:xfrm>
          <a:prstGeom prst="roundRect">
            <a:avLst>
              <a:gd name="adj" fmla="val 4667"/>
            </a:avLst>
          </a:prstGeom>
          <a:solidFill>
            <a:srgbClr val="E9F1EF"/>
          </a:solidFill>
          <a:ln w="12700">
            <a:solidFill>
              <a:srgbClr val="B2CCC5"/>
            </a:solidFill>
            <a:prstDash val="solid"/>
          </a:ln>
        </p:spPr>
      </p:sp>
      <p:sp>
        <p:nvSpPr>
          <p:cNvPr id="13" name="Text 11"/>
          <p:cNvSpPr/>
          <p:nvPr/>
        </p:nvSpPr>
        <p:spPr>
          <a:xfrm>
            <a:off x="960120" y="4114800"/>
            <a:ext cx="10241280" cy="310896"/>
          </a:xfrm>
          <a:prstGeom prst="rect">
            <a:avLst/>
          </a:prstGeom>
          <a:noFill/>
          <a:ln/>
        </p:spPr>
        <p:txBody>
          <a:bodyPr wrap="square" lIns="0" tIns="0" rIns="0" bIns="0" rtlCol="0" anchor="ctr"/>
          <a:lstStyle/>
          <a:p>
            <a:pPr indent="0" marL="0">
              <a:buNone/>
            </a:pPr>
            <a:r>
              <a:rPr lang="en-US" sz="1350" b="1" dirty="0">
                <a:solidFill>
                  <a:srgbClr val="084A40"/>
                </a:solidFill>
                <a:latin typeface="Calibri" pitchFamily="34" charset="0"/>
                <a:ea typeface="Calibri" pitchFamily="34" charset="-122"/>
                <a:cs typeface="Calibri" pitchFamily="34" charset="-120"/>
              </a:rPr>
              <a:t>What has to be true instead</a:t>
            </a:r>
            <a:endParaRPr lang="en-US" sz="1350" dirty="0"/>
          </a:p>
        </p:txBody>
      </p:sp>
      <p:sp>
        <p:nvSpPr>
          <p:cNvPr id="14" name="Text 12"/>
          <p:cNvSpPr/>
          <p:nvPr/>
        </p:nvSpPr>
        <p:spPr>
          <a:xfrm>
            <a:off x="960120" y="4443984"/>
            <a:ext cx="10241280" cy="731520"/>
          </a:xfrm>
          <a:prstGeom prst="rect">
            <a:avLst/>
          </a:prstGeom>
          <a:noFill/>
          <a:ln/>
        </p:spPr>
        <p:txBody>
          <a:bodyPr wrap="square" lIns="0" tIns="0" rIns="0" bIns="0" rtlCol="0" anchor="t"/>
          <a:lstStyle/>
          <a:p>
            <a:pPr indent="0" marL="0">
              <a:buNone/>
            </a:pPr>
            <a:r>
              <a:rPr lang="en-US" sz="1250" dirty="0">
                <a:solidFill>
                  <a:srgbClr val="47525C"/>
                </a:solidFill>
                <a:latin typeface="Calibri" pitchFamily="34" charset="0"/>
                <a:ea typeface="Calibri" pitchFamily="34" charset="-122"/>
                <a:cs typeface="Calibri" pitchFamily="34" charset="-120"/>
              </a:rPr>
              <a:t>An agent whose every instruction and every signature is controlled by an attacker still cannot move more than the buyer’s ceiling. That must hold without any check in the application layer, because the application layer is not the thing enforcing it.</a:t>
            </a:r>
            <a:endParaRPr lang="en-US" sz="1250" dirty="0"/>
          </a:p>
        </p:txBody>
      </p:sp>
      <p:sp>
        <p:nvSpPr>
          <p:cNvPr id="15" name="Text 13"/>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Figures on this slide describe the failure mode, not measurements of a deployment.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OUR SOLUTION</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Put the ceiling where the agent cannot reach</a:t>
            </a:r>
            <a:endParaRPr lang="en-US" sz="3200" dirty="0"/>
          </a:p>
        </p:txBody>
      </p:sp>
      <p:sp>
        <p:nvSpPr>
          <p:cNvPr id="4" name="Shape 2"/>
          <p:cNvSpPr/>
          <p:nvPr/>
        </p:nvSpPr>
        <p:spPr>
          <a:xfrm>
            <a:off x="658368" y="1874520"/>
            <a:ext cx="2377440" cy="1280160"/>
          </a:xfrm>
          <a:prstGeom prst="roundRect">
            <a:avLst>
              <a:gd name="adj" fmla="val 6429"/>
            </a:avLst>
          </a:prstGeom>
          <a:solidFill>
            <a:srgbClr val="12161A"/>
          </a:solidFill>
          <a:ln w="12700">
            <a:solidFill>
              <a:srgbClr val="12161A"/>
            </a:solidFill>
            <a:prstDash val="solid"/>
          </a:ln>
        </p:spPr>
      </p:sp>
      <p:sp>
        <p:nvSpPr>
          <p:cNvPr id="5" name="Text 3"/>
          <p:cNvSpPr/>
          <p:nvPr/>
        </p:nvSpPr>
        <p:spPr>
          <a:xfrm>
            <a:off x="658368" y="2066544"/>
            <a:ext cx="2377440" cy="329184"/>
          </a:xfrm>
          <a:prstGeom prst="rect">
            <a:avLst/>
          </a:prstGeom>
          <a:noFill/>
          <a:ln/>
        </p:spPr>
        <p:txBody>
          <a:bodyPr wrap="square" lIns="0" tIns="0" rIns="0" bIns="0" rtlCol="0" anchor="ctr"/>
          <a:lstStyle/>
          <a:p>
            <a:pPr algn="ctr" indent="0" marL="0">
              <a:buNone/>
            </a:pPr>
            <a:r>
              <a:rPr lang="en-US" sz="1250" b="1" spc="180" kern="0" dirty="0">
                <a:solidFill>
                  <a:srgbClr val="FFFFFF"/>
                </a:solidFill>
                <a:latin typeface="Calibri" pitchFamily="34" charset="0"/>
                <a:ea typeface="Calibri" pitchFamily="34" charset="-122"/>
                <a:cs typeface="Calibri" pitchFamily="34" charset="-120"/>
              </a:rPr>
              <a:t>BUYER</a:t>
            </a:r>
            <a:endParaRPr lang="en-US" sz="1250" dirty="0"/>
          </a:p>
        </p:txBody>
      </p:sp>
      <p:sp>
        <p:nvSpPr>
          <p:cNvPr id="6" name="Text 4"/>
          <p:cNvSpPr/>
          <p:nvPr/>
        </p:nvSpPr>
        <p:spPr>
          <a:xfrm>
            <a:off x="658368" y="2395728"/>
            <a:ext cx="2377440" cy="329184"/>
          </a:xfrm>
          <a:prstGeom prst="rect">
            <a:avLst/>
          </a:prstGeom>
          <a:noFill/>
          <a:ln/>
        </p:spPr>
        <p:txBody>
          <a:bodyPr wrap="square" lIns="0" tIns="0" rIns="0" bIns="0" rtlCol="0" anchor="ctr"/>
          <a:lstStyle/>
          <a:p>
            <a:pPr algn="ctr" indent="0" marL="0">
              <a:buNone/>
            </a:pPr>
            <a:r>
              <a:rPr lang="en-US" sz="1150" dirty="0">
                <a:solidFill>
                  <a:srgbClr val="C3DCD5"/>
                </a:solidFill>
                <a:latin typeface="Calibri" pitchFamily="34" charset="0"/>
                <a:ea typeface="Calibri" pitchFamily="34" charset="-122"/>
                <a:cs typeface="Calibri" pitchFamily="34" charset="-120"/>
              </a:rPr>
              <a:t>Sets the ceiling</a:t>
            </a:r>
            <a:endParaRPr lang="en-US" sz="1150" dirty="0"/>
          </a:p>
        </p:txBody>
      </p:sp>
      <p:sp>
        <p:nvSpPr>
          <p:cNvPr id="7" name="Text 5"/>
          <p:cNvSpPr/>
          <p:nvPr/>
        </p:nvSpPr>
        <p:spPr>
          <a:xfrm>
            <a:off x="3054096" y="1874520"/>
            <a:ext cx="347472" cy="1280160"/>
          </a:xfrm>
          <a:prstGeom prst="rect">
            <a:avLst/>
          </a:prstGeom>
          <a:noFill/>
          <a:ln/>
        </p:spPr>
        <p:txBody>
          <a:bodyPr wrap="square" lIns="0" tIns="0" rIns="0" bIns="0" rtlCol="0" anchor="ctr"/>
          <a:lstStyle/>
          <a:p>
            <a:pPr algn="ctr" indent="0" marL="0">
              <a:buNone/>
            </a:pPr>
            <a:r>
              <a:rPr lang="en-US" sz="1900" b="1" dirty="0">
                <a:solidFill>
                  <a:srgbClr val="576169"/>
                </a:solidFill>
                <a:latin typeface="Calibri" pitchFamily="34" charset="0"/>
                <a:ea typeface="Calibri" pitchFamily="34" charset="-122"/>
                <a:cs typeface="Calibri" pitchFamily="34" charset="-120"/>
              </a:rPr>
              <a:t>&gt;</a:t>
            </a:r>
            <a:endParaRPr lang="en-US" sz="1900" dirty="0"/>
          </a:p>
        </p:txBody>
      </p:sp>
      <p:sp>
        <p:nvSpPr>
          <p:cNvPr id="8" name="Shape 6"/>
          <p:cNvSpPr/>
          <p:nvPr/>
        </p:nvSpPr>
        <p:spPr>
          <a:xfrm>
            <a:off x="3401568" y="1874520"/>
            <a:ext cx="2377440" cy="1280160"/>
          </a:xfrm>
          <a:prstGeom prst="roundRect">
            <a:avLst>
              <a:gd name="adj" fmla="val 6429"/>
            </a:avLst>
          </a:prstGeom>
          <a:solidFill>
            <a:srgbClr val="0B5F52"/>
          </a:solidFill>
          <a:ln w="12700">
            <a:solidFill>
              <a:srgbClr val="0B5F52"/>
            </a:solidFill>
            <a:prstDash val="solid"/>
          </a:ln>
        </p:spPr>
      </p:sp>
      <p:sp>
        <p:nvSpPr>
          <p:cNvPr id="9" name="Text 7"/>
          <p:cNvSpPr/>
          <p:nvPr/>
        </p:nvSpPr>
        <p:spPr>
          <a:xfrm>
            <a:off x="3401568" y="2066544"/>
            <a:ext cx="2377440" cy="329184"/>
          </a:xfrm>
          <a:prstGeom prst="rect">
            <a:avLst/>
          </a:prstGeom>
          <a:noFill/>
          <a:ln/>
        </p:spPr>
        <p:txBody>
          <a:bodyPr wrap="square" lIns="0" tIns="0" rIns="0" bIns="0" rtlCol="0" anchor="ctr"/>
          <a:lstStyle/>
          <a:p>
            <a:pPr algn="ctr" indent="0" marL="0">
              <a:buNone/>
            </a:pPr>
            <a:r>
              <a:rPr lang="en-US" sz="1250" b="1" spc="180" kern="0" dirty="0">
                <a:solidFill>
                  <a:srgbClr val="FFFFFF"/>
                </a:solidFill>
                <a:latin typeface="Calibri" pitchFamily="34" charset="0"/>
                <a:ea typeface="Calibri" pitchFamily="34" charset="-122"/>
                <a:cs typeface="Calibri" pitchFamily="34" charset="-120"/>
              </a:rPr>
              <a:t>POLICY</a:t>
            </a:r>
            <a:endParaRPr lang="en-US" sz="1250" dirty="0"/>
          </a:p>
        </p:txBody>
      </p:sp>
      <p:sp>
        <p:nvSpPr>
          <p:cNvPr id="10" name="Text 8"/>
          <p:cNvSpPr/>
          <p:nvPr/>
        </p:nvSpPr>
        <p:spPr>
          <a:xfrm>
            <a:off x="3401568" y="2395728"/>
            <a:ext cx="2377440" cy="329184"/>
          </a:xfrm>
          <a:prstGeom prst="rect">
            <a:avLst/>
          </a:prstGeom>
          <a:noFill/>
          <a:ln/>
        </p:spPr>
        <p:txBody>
          <a:bodyPr wrap="square" lIns="0" tIns="0" rIns="0" bIns="0" rtlCol="0" anchor="ctr"/>
          <a:lstStyle/>
          <a:p>
            <a:pPr algn="ctr" indent="0" marL="0">
              <a:buNone/>
            </a:pPr>
            <a:r>
              <a:rPr lang="en-US" sz="1150" dirty="0">
                <a:solidFill>
                  <a:srgbClr val="C3DCD5"/>
                </a:solidFill>
                <a:latin typeface="Calibri" pitchFamily="34" charset="0"/>
                <a:ea typeface="Calibri" pitchFamily="34" charset="-122"/>
                <a:cs typeface="Calibri" pitchFamily="34" charset="-120"/>
              </a:rPr>
              <a:t>Written on-chain</a:t>
            </a:r>
            <a:endParaRPr lang="en-US" sz="1150" dirty="0"/>
          </a:p>
        </p:txBody>
      </p:sp>
      <p:sp>
        <p:nvSpPr>
          <p:cNvPr id="11" name="Text 9"/>
          <p:cNvSpPr/>
          <p:nvPr/>
        </p:nvSpPr>
        <p:spPr>
          <a:xfrm>
            <a:off x="5797296" y="1874520"/>
            <a:ext cx="347472" cy="1280160"/>
          </a:xfrm>
          <a:prstGeom prst="rect">
            <a:avLst/>
          </a:prstGeom>
          <a:noFill/>
          <a:ln/>
        </p:spPr>
        <p:txBody>
          <a:bodyPr wrap="square" lIns="0" tIns="0" rIns="0" bIns="0" rtlCol="0" anchor="ctr"/>
          <a:lstStyle/>
          <a:p>
            <a:pPr algn="ctr" indent="0" marL="0">
              <a:buNone/>
            </a:pPr>
            <a:r>
              <a:rPr lang="en-US" sz="1900" b="1" dirty="0">
                <a:solidFill>
                  <a:srgbClr val="576169"/>
                </a:solidFill>
                <a:latin typeface="Calibri" pitchFamily="34" charset="0"/>
                <a:ea typeface="Calibri" pitchFamily="34" charset="-122"/>
                <a:cs typeface="Calibri" pitchFamily="34" charset="-120"/>
              </a:rPr>
              <a:t>&gt;</a:t>
            </a:r>
            <a:endParaRPr lang="en-US" sz="1900" dirty="0"/>
          </a:p>
        </p:txBody>
      </p:sp>
      <p:sp>
        <p:nvSpPr>
          <p:cNvPr id="12" name="Shape 10"/>
          <p:cNvSpPr/>
          <p:nvPr/>
        </p:nvSpPr>
        <p:spPr>
          <a:xfrm>
            <a:off x="6144768" y="1874520"/>
            <a:ext cx="2377440" cy="1280160"/>
          </a:xfrm>
          <a:prstGeom prst="roundRect">
            <a:avLst>
              <a:gd name="adj" fmla="val 6429"/>
            </a:avLst>
          </a:prstGeom>
          <a:solidFill>
            <a:srgbClr val="0B5F52"/>
          </a:solidFill>
          <a:ln w="12700">
            <a:solidFill>
              <a:srgbClr val="0B5F52"/>
            </a:solidFill>
            <a:prstDash val="solid"/>
          </a:ln>
        </p:spPr>
      </p:sp>
      <p:sp>
        <p:nvSpPr>
          <p:cNvPr id="13" name="Text 11"/>
          <p:cNvSpPr/>
          <p:nvPr/>
        </p:nvSpPr>
        <p:spPr>
          <a:xfrm>
            <a:off x="6144768" y="2066544"/>
            <a:ext cx="2377440" cy="329184"/>
          </a:xfrm>
          <a:prstGeom prst="rect">
            <a:avLst/>
          </a:prstGeom>
          <a:noFill/>
          <a:ln/>
        </p:spPr>
        <p:txBody>
          <a:bodyPr wrap="square" lIns="0" tIns="0" rIns="0" bIns="0" rtlCol="0" anchor="ctr"/>
          <a:lstStyle/>
          <a:p>
            <a:pPr algn="ctr" indent="0" marL="0">
              <a:buNone/>
            </a:pPr>
            <a:r>
              <a:rPr lang="en-US" sz="1250" b="1" spc="180" kern="0" dirty="0">
                <a:solidFill>
                  <a:srgbClr val="FFFFFF"/>
                </a:solidFill>
                <a:latin typeface="Calibri" pitchFamily="34" charset="0"/>
                <a:ea typeface="Calibri" pitchFamily="34" charset="-122"/>
                <a:cs typeface="Calibri" pitchFamily="34" charset="-120"/>
              </a:rPr>
              <a:t>ESCROW</a:t>
            </a:r>
            <a:endParaRPr lang="en-US" sz="1250" dirty="0"/>
          </a:p>
        </p:txBody>
      </p:sp>
      <p:sp>
        <p:nvSpPr>
          <p:cNvPr id="14" name="Text 12"/>
          <p:cNvSpPr/>
          <p:nvPr/>
        </p:nvSpPr>
        <p:spPr>
          <a:xfrm>
            <a:off x="6144768" y="2395728"/>
            <a:ext cx="2377440" cy="329184"/>
          </a:xfrm>
          <a:prstGeom prst="rect">
            <a:avLst/>
          </a:prstGeom>
          <a:noFill/>
          <a:ln/>
        </p:spPr>
        <p:txBody>
          <a:bodyPr wrap="square" lIns="0" tIns="0" rIns="0" bIns="0" rtlCol="0" anchor="ctr"/>
          <a:lstStyle/>
          <a:p>
            <a:pPr algn="ctr" indent="0" marL="0">
              <a:buNone/>
            </a:pPr>
            <a:r>
              <a:rPr lang="en-US" sz="1150" dirty="0">
                <a:solidFill>
                  <a:srgbClr val="C3DCD5"/>
                </a:solidFill>
                <a:latin typeface="Calibri" pitchFamily="34" charset="0"/>
                <a:ea typeface="Calibri" pitchFamily="34" charset="-122"/>
                <a:cs typeface="Calibri" pitchFamily="34" charset="-120"/>
              </a:rPr>
              <a:t>Checks every deal</a:t>
            </a:r>
            <a:endParaRPr lang="en-US" sz="1150" dirty="0"/>
          </a:p>
        </p:txBody>
      </p:sp>
      <p:sp>
        <p:nvSpPr>
          <p:cNvPr id="15" name="Text 13"/>
          <p:cNvSpPr/>
          <p:nvPr/>
        </p:nvSpPr>
        <p:spPr>
          <a:xfrm>
            <a:off x="8540496" y="1874520"/>
            <a:ext cx="347472" cy="1280160"/>
          </a:xfrm>
          <a:prstGeom prst="rect">
            <a:avLst/>
          </a:prstGeom>
          <a:noFill/>
          <a:ln/>
        </p:spPr>
        <p:txBody>
          <a:bodyPr wrap="square" lIns="0" tIns="0" rIns="0" bIns="0" rtlCol="0" anchor="ctr"/>
          <a:lstStyle/>
          <a:p>
            <a:pPr algn="ctr" indent="0" marL="0">
              <a:buNone/>
            </a:pPr>
            <a:r>
              <a:rPr lang="en-US" sz="1900" b="1" dirty="0">
                <a:solidFill>
                  <a:srgbClr val="576169"/>
                </a:solidFill>
                <a:latin typeface="Calibri" pitchFamily="34" charset="0"/>
                <a:ea typeface="Calibri" pitchFamily="34" charset="-122"/>
                <a:cs typeface="Calibri" pitchFamily="34" charset="-120"/>
              </a:rPr>
              <a:t>&gt;</a:t>
            </a:r>
            <a:endParaRPr lang="en-US" sz="1900" dirty="0"/>
          </a:p>
        </p:txBody>
      </p:sp>
      <p:sp>
        <p:nvSpPr>
          <p:cNvPr id="16" name="Shape 14"/>
          <p:cNvSpPr/>
          <p:nvPr/>
        </p:nvSpPr>
        <p:spPr>
          <a:xfrm>
            <a:off x="8887968" y="1874520"/>
            <a:ext cx="2377440" cy="1280160"/>
          </a:xfrm>
          <a:prstGeom prst="roundRect">
            <a:avLst>
              <a:gd name="adj" fmla="val 6429"/>
            </a:avLst>
          </a:prstGeom>
          <a:solidFill>
            <a:srgbClr val="FFFFFF"/>
          </a:solidFill>
          <a:ln w="12700">
            <a:solidFill>
              <a:srgbClr val="D2CEC4"/>
            </a:solidFill>
            <a:prstDash val="solid"/>
          </a:ln>
        </p:spPr>
      </p:sp>
      <p:sp>
        <p:nvSpPr>
          <p:cNvPr id="17" name="Text 15"/>
          <p:cNvSpPr/>
          <p:nvPr/>
        </p:nvSpPr>
        <p:spPr>
          <a:xfrm>
            <a:off x="8887968" y="2066544"/>
            <a:ext cx="2377440" cy="329184"/>
          </a:xfrm>
          <a:prstGeom prst="rect">
            <a:avLst/>
          </a:prstGeom>
          <a:noFill/>
          <a:ln/>
        </p:spPr>
        <p:txBody>
          <a:bodyPr wrap="square" lIns="0" tIns="0" rIns="0" bIns="0" rtlCol="0" anchor="ctr"/>
          <a:lstStyle/>
          <a:p>
            <a:pPr algn="ctr" indent="0" marL="0">
              <a:buNone/>
            </a:pPr>
            <a:r>
              <a:rPr lang="en-US" sz="1250" b="1" spc="180" kern="0" dirty="0">
                <a:solidFill>
                  <a:srgbClr val="101418"/>
                </a:solidFill>
                <a:latin typeface="Calibri" pitchFamily="34" charset="0"/>
                <a:ea typeface="Calibri" pitchFamily="34" charset="-122"/>
                <a:cs typeface="Calibri" pitchFamily="34" charset="-120"/>
              </a:rPr>
              <a:t>AGENT</a:t>
            </a:r>
            <a:endParaRPr lang="en-US" sz="1250" dirty="0"/>
          </a:p>
        </p:txBody>
      </p:sp>
      <p:sp>
        <p:nvSpPr>
          <p:cNvPr id="18" name="Text 16"/>
          <p:cNvSpPr/>
          <p:nvPr/>
        </p:nvSpPr>
        <p:spPr>
          <a:xfrm>
            <a:off x="8887968" y="2395728"/>
            <a:ext cx="2377440" cy="329184"/>
          </a:xfrm>
          <a:prstGeom prst="rect">
            <a:avLst/>
          </a:prstGeom>
          <a:noFill/>
          <a:ln/>
        </p:spPr>
        <p:txBody>
          <a:bodyPr wrap="square" lIns="0" tIns="0" rIns="0" bIns="0" rtlCol="0" anchor="ctr"/>
          <a:lstStyle/>
          <a:p>
            <a:pPr algn="ctr" indent="0" marL="0">
              <a:buNone/>
            </a:pPr>
            <a:r>
              <a:rPr lang="en-US" sz="1150" dirty="0">
                <a:solidFill>
                  <a:srgbClr val="47525C"/>
                </a:solidFill>
                <a:latin typeface="Calibri" pitchFamily="34" charset="0"/>
                <a:ea typeface="Calibri" pitchFamily="34" charset="-122"/>
                <a:cs typeface="Calibri" pitchFamily="34" charset="-120"/>
              </a:rPr>
              <a:t>Spends beneath it</a:t>
            </a:r>
            <a:endParaRPr lang="en-US" sz="1150" dirty="0"/>
          </a:p>
        </p:txBody>
      </p:sp>
      <p:sp>
        <p:nvSpPr>
          <p:cNvPr id="19" name="Shape 17"/>
          <p:cNvSpPr/>
          <p:nvPr/>
        </p:nvSpPr>
        <p:spPr>
          <a:xfrm>
            <a:off x="658368" y="3520440"/>
            <a:ext cx="5349240" cy="1828800"/>
          </a:xfrm>
          <a:prstGeom prst="roundRect">
            <a:avLst>
              <a:gd name="adj" fmla="val 3500"/>
            </a:avLst>
          </a:prstGeom>
          <a:solidFill>
            <a:srgbClr val="FFFFFF"/>
          </a:solidFill>
          <a:ln w="12700">
            <a:solidFill>
              <a:srgbClr val="D2CEC4"/>
            </a:solidFill>
            <a:prstDash val="solid"/>
          </a:ln>
        </p:spPr>
      </p:sp>
      <p:sp>
        <p:nvSpPr>
          <p:cNvPr id="20" name="Text 18"/>
          <p:cNvSpPr/>
          <p:nvPr/>
        </p:nvSpPr>
        <p:spPr>
          <a:xfrm>
            <a:off x="932688" y="3694176"/>
            <a:ext cx="4800600" cy="292608"/>
          </a:xfrm>
          <a:prstGeom prst="rect">
            <a:avLst/>
          </a:prstGeom>
          <a:noFill/>
          <a:ln/>
        </p:spPr>
        <p:txBody>
          <a:bodyPr wrap="square" lIns="0" tIns="0" rIns="0" bIns="0" rtlCol="0" anchor="ctr"/>
          <a:lstStyle/>
          <a:p>
            <a:pPr indent="0" marL="0">
              <a:buNone/>
            </a:pPr>
            <a:r>
              <a:rPr lang="en-US" sz="1150" b="1" spc="120" kern="0" dirty="0">
                <a:solidFill>
                  <a:srgbClr val="576169"/>
                </a:solidFill>
                <a:latin typeface="Calibri" pitchFamily="34" charset="0"/>
                <a:ea typeface="Calibri" pitchFamily="34" charset="-122"/>
                <a:cs typeface="Calibri" pitchFamily="34" charset="-120"/>
              </a:rPr>
              <a:t>The agent controls</a:t>
            </a:r>
            <a:endParaRPr lang="en-US" sz="1150" dirty="0"/>
          </a:p>
        </p:txBody>
      </p:sp>
      <p:sp>
        <p:nvSpPr>
          <p:cNvPr id="21" name="Text 19"/>
          <p:cNvSpPr/>
          <p:nvPr/>
        </p:nvSpPr>
        <p:spPr>
          <a:xfrm>
            <a:off x="932688" y="4041648"/>
            <a:ext cx="4800600" cy="10972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01418"/>
                </a:solidFill>
                <a:latin typeface="Calibri" pitchFamily="34" charset="0"/>
                <a:ea typeface="Calibri" pitchFamily="34" charset="-122"/>
                <a:cs typeface="Calibri" pitchFamily="34" charset="-120"/>
              </a:rPr>
              <a:t>Which suppliers survive your constraints</a:t>
            </a:r>
            <a:endParaRPr lang="en-US" sz="1250" dirty="0"/>
          </a:p>
          <a:p>
            <a:pPr marL="342900" indent="-342900">
              <a:spcAft>
                <a:spcPts val="500"/>
              </a:spcAft>
              <a:buSzPct val="100000"/>
              <a:buChar char="•"/>
            </a:pPr>
            <a:r>
              <a:rPr lang="en-US" sz="1250" dirty="0">
                <a:solidFill>
                  <a:srgbClr val="101418"/>
                </a:solidFill>
                <a:latin typeface="Calibri" pitchFamily="34" charset="0"/>
                <a:ea typeface="Calibri" pitchFamily="34" charset="-122"/>
                <a:cs typeface="Calibri" pitchFamily="34" charset="-120"/>
              </a:rPr>
              <a:t>What to offer, and when to walk away</a:t>
            </a:r>
            <a:endParaRPr lang="en-US" sz="1250" dirty="0"/>
          </a:p>
          <a:p>
            <a:pPr marL="342900" indent="-342900">
              <a:spcAft>
                <a:spcPts val="500"/>
              </a:spcAft>
              <a:buSzPct val="100000"/>
              <a:buChar char="•"/>
            </a:pPr>
            <a:r>
              <a:rPr lang="en-US" sz="1250" dirty="0">
                <a:solidFill>
                  <a:srgbClr val="101418"/>
                </a:solidFill>
                <a:latin typeface="Calibri" pitchFamily="34" charset="0"/>
                <a:ea typeface="Calibri" pitchFamily="34" charset="-122"/>
                <a:cs typeface="Calibri" pitchFamily="34" charset="-120"/>
              </a:rPr>
              <a:t>Which deal to recommend</a:t>
            </a:r>
            <a:endParaRPr lang="en-US" sz="1250" dirty="0"/>
          </a:p>
        </p:txBody>
      </p:sp>
      <p:sp>
        <p:nvSpPr>
          <p:cNvPr id="22" name="Shape 20"/>
          <p:cNvSpPr/>
          <p:nvPr/>
        </p:nvSpPr>
        <p:spPr>
          <a:xfrm>
            <a:off x="6190488" y="3520440"/>
            <a:ext cx="5349240" cy="1828800"/>
          </a:xfrm>
          <a:prstGeom prst="roundRect">
            <a:avLst>
              <a:gd name="adj" fmla="val 3500"/>
            </a:avLst>
          </a:prstGeom>
          <a:solidFill>
            <a:srgbClr val="12161A"/>
          </a:solidFill>
          <a:ln w="12700">
            <a:solidFill>
              <a:srgbClr val="12161A"/>
            </a:solidFill>
            <a:prstDash val="solid"/>
          </a:ln>
        </p:spPr>
      </p:sp>
      <p:sp>
        <p:nvSpPr>
          <p:cNvPr id="23" name="Text 21"/>
          <p:cNvSpPr/>
          <p:nvPr/>
        </p:nvSpPr>
        <p:spPr>
          <a:xfrm>
            <a:off x="6464808" y="3694176"/>
            <a:ext cx="4800600" cy="292608"/>
          </a:xfrm>
          <a:prstGeom prst="rect">
            <a:avLst/>
          </a:prstGeom>
          <a:noFill/>
          <a:ln/>
        </p:spPr>
        <p:txBody>
          <a:bodyPr wrap="square" lIns="0" tIns="0" rIns="0" bIns="0" rtlCol="0" anchor="ctr"/>
          <a:lstStyle/>
          <a:p>
            <a:pPr indent="0" marL="0">
              <a:buNone/>
            </a:pPr>
            <a:r>
              <a:rPr lang="en-US" sz="1150" b="1" spc="120" kern="0" dirty="0">
                <a:solidFill>
                  <a:srgbClr val="3FBFA3"/>
                </a:solidFill>
                <a:latin typeface="Calibri" pitchFamily="34" charset="0"/>
                <a:ea typeface="Calibri" pitchFamily="34" charset="-122"/>
                <a:cs typeface="Calibri" pitchFamily="34" charset="-120"/>
              </a:rPr>
              <a:t>Only the buyer controls</a:t>
            </a:r>
            <a:endParaRPr lang="en-US" sz="1150" dirty="0"/>
          </a:p>
        </p:txBody>
      </p:sp>
      <p:sp>
        <p:nvSpPr>
          <p:cNvPr id="24" name="Text 22"/>
          <p:cNvSpPr/>
          <p:nvPr/>
        </p:nvSpPr>
        <p:spPr>
          <a:xfrm>
            <a:off x="6464808" y="4041648"/>
            <a:ext cx="4800600" cy="10972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The per-deal ceiling in contract state</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Whether funds ever enter escrow</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Whether the supplier is paid</a:t>
            </a:r>
            <a:endParaRPr lang="en-US" sz="1250" dirty="0"/>
          </a:p>
        </p:txBody>
      </p:sp>
      <p:sp>
        <p:nvSpPr>
          <p:cNvPr id="25" name="Text 23"/>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setAgentPolicy keys off msg.sender, so an agent writing a policy can only ever write its own.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HOW THE PRODUCT WORKS</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Four stages autonomous. One human checkpoint.</a:t>
            </a:r>
            <a:endParaRPr lang="en-US" sz="3200" dirty="0"/>
          </a:p>
        </p:txBody>
      </p:sp>
      <p:sp>
        <p:nvSpPr>
          <p:cNvPr id="4" name="Shape 2"/>
          <p:cNvSpPr/>
          <p:nvPr/>
        </p:nvSpPr>
        <p:spPr>
          <a:xfrm>
            <a:off x="658368" y="2011680"/>
            <a:ext cx="1298448" cy="1572768"/>
          </a:xfrm>
          <a:prstGeom prst="roundRect">
            <a:avLst>
              <a:gd name="adj" fmla="val 5634"/>
            </a:avLst>
          </a:prstGeom>
          <a:solidFill>
            <a:srgbClr val="12161A"/>
          </a:solidFill>
          <a:ln w="12700">
            <a:solidFill>
              <a:srgbClr val="12161A"/>
            </a:solidFill>
            <a:prstDash val="solid"/>
          </a:ln>
        </p:spPr>
      </p:sp>
      <p:sp>
        <p:nvSpPr>
          <p:cNvPr id="5" name="Text 3"/>
          <p:cNvSpPr/>
          <p:nvPr/>
        </p:nvSpPr>
        <p:spPr>
          <a:xfrm>
            <a:off x="658368" y="2157984"/>
            <a:ext cx="1298448" cy="274320"/>
          </a:xfrm>
          <a:prstGeom prst="rect">
            <a:avLst/>
          </a:prstGeom>
          <a:noFill/>
          <a:ln/>
        </p:spPr>
        <p:txBody>
          <a:bodyPr wrap="square" lIns="0" tIns="0" rIns="0" bIns="0" rtlCol="0" anchor="ctr"/>
          <a:lstStyle/>
          <a:p>
            <a:pPr algn="ctr" indent="0" marL="0">
              <a:buNone/>
            </a:pPr>
            <a:r>
              <a:rPr lang="en-US" sz="1000" b="1" dirty="0">
                <a:solidFill>
                  <a:srgbClr val="3FBFA3"/>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658368" y="2450592"/>
            <a:ext cx="1298448"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Request</a:t>
            </a:r>
            <a:endParaRPr lang="en-US" sz="1250" dirty="0"/>
          </a:p>
        </p:txBody>
      </p:sp>
      <p:sp>
        <p:nvSpPr>
          <p:cNvPr id="7" name="Text 5"/>
          <p:cNvSpPr/>
          <p:nvPr/>
        </p:nvSpPr>
        <p:spPr>
          <a:xfrm>
            <a:off x="658368"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C3DCD5"/>
                </a:solidFill>
                <a:latin typeface="Calibri" pitchFamily="34" charset="0"/>
                <a:ea typeface="Calibri" pitchFamily="34" charset="-122"/>
                <a:cs typeface="Calibri" pitchFamily="34" charset="-120"/>
              </a:rPr>
              <a:t>YOU</a:t>
            </a:r>
            <a:endParaRPr lang="en-US" sz="900" dirty="0"/>
          </a:p>
        </p:txBody>
      </p:sp>
      <p:sp>
        <p:nvSpPr>
          <p:cNvPr id="8" name="Shape 6"/>
          <p:cNvSpPr/>
          <p:nvPr/>
        </p:nvSpPr>
        <p:spPr>
          <a:xfrm>
            <a:off x="2039112" y="2011680"/>
            <a:ext cx="1298448" cy="1572768"/>
          </a:xfrm>
          <a:prstGeom prst="roundRect">
            <a:avLst>
              <a:gd name="adj" fmla="val 5634"/>
            </a:avLst>
          </a:prstGeom>
          <a:solidFill>
            <a:srgbClr val="FFFFFF"/>
          </a:solidFill>
          <a:ln w="12700">
            <a:solidFill>
              <a:srgbClr val="D2CEC4"/>
            </a:solidFill>
            <a:prstDash val="solid"/>
          </a:ln>
        </p:spPr>
      </p:sp>
      <p:sp>
        <p:nvSpPr>
          <p:cNvPr id="9" name="Text 7"/>
          <p:cNvSpPr/>
          <p:nvPr/>
        </p:nvSpPr>
        <p:spPr>
          <a:xfrm>
            <a:off x="2039112"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02</a:t>
            </a:r>
            <a:endParaRPr lang="en-US" sz="1000" dirty="0"/>
          </a:p>
        </p:txBody>
      </p:sp>
      <p:sp>
        <p:nvSpPr>
          <p:cNvPr id="10" name="Text 8"/>
          <p:cNvSpPr/>
          <p:nvPr/>
        </p:nvSpPr>
        <p:spPr>
          <a:xfrm>
            <a:off x="2039112"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Requirements</a:t>
            </a:r>
            <a:endParaRPr lang="en-US" sz="1250" dirty="0"/>
          </a:p>
        </p:txBody>
      </p:sp>
      <p:sp>
        <p:nvSpPr>
          <p:cNvPr id="11" name="Text 9"/>
          <p:cNvSpPr/>
          <p:nvPr/>
        </p:nvSpPr>
        <p:spPr>
          <a:xfrm>
            <a:off x="2039112"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AGENT</a:t>
            </a:r>
            <a:endParaRPr lang="en-US" sz="900" dirty="0"/>
          </a:p>
        </p:txBody>
      </p:sp>
      <p:sp>
        <p:nvSpPr>
          <p:cNvPr id="12" name="Shape 10"/>
          <p:cNvSpPr/>
          <p:nvPr/>
        </p:nvSpPr>
        <p:spPr>
          <a:xfrm>
            <a:off x="3419856" y="2011680"/>
            <a:ext cx="1298448" cy="1572768"/>
          </a:xfrm>
          <a:prstGeom prst="roundRect">
            <a:avLst>
              <a:gd name="adj" fmla="val 5634"/>
            </a:avLst>
          </a:prstGeom>
          <a:solidFill>
            <a:srgbClr val="FFFFFF"/>
          </a:solidFill>
          <a:ln w="12700">
            <a:solidFill>
              <a:srgbClr val="D2CEC4"/>
            </a:solidFill>
            <a:prstDash val="solid"/>
          </a:ln>
        </p:spPr>
      </p:sp>
      <p:sp>
        <p:nvSpPr>
          <p:cNvPr id="13" name="Text 11"/>
          <p:cNvSpPr/>
          <p:nvPr/>
        </p:nvSpPr>
        <p:spPr>
          <a:xfrm>
            <a:off x="3419856"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03</a:t>
            </a:r>
            <a:endParaRPr lang="en-US" sz="1000" dirty="0"/>
          </a:p>
        </p:txBody>
      </p:sp>
      <p:sp>
        <p:nvSpPr>
          <p:cNvPr id="14" name="Text 12"/>
          <p:cNvSpPr/>
          <p:nvPr/>
        </p:nvSpPr>
        <p:spPr>
          <a:xfrm>
            <a:off x="3419856"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Suppliers</a:t>
            </a:r>
            <a:endParaRPr lang="en-US" sz="1250" dirty="0"/>
          </a:p>
        </p:txBody>
      </p:sp>
      <p:sp>
        <p:nvSpPr>
          <p:cNvPr id="15" name="Text 13"/>
          <p:cNvSpPr/>
          <p:nvPr/>
        </p:nvSpPr>
        <p:spPr>
          <a:xfrm>
            <a:off x="3419856"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AGENT</a:t>
            </a:r>
            <a:endParaRPr lang="en-US" sz="900" dirty="0"/>
          </a:p>
        </p:txBody>
      </p:sp>
      <p:sp>
        <p:nvSpPr>
          <p:cNvPr id="16" name="Shape 14"/>
          <p:cNvSpPr/>
          <p:nvPr/>
        </p:nvSpPr>
        <p:spPr>
          <a:xfrm>
            <a:off x="4800600" y="2011680"/>
            <a:ext cx="1298448" cy="1572768"/>
          </a:xfrm>
          <a:prstGeom prst="roundRect">
            <a:avLst>
              <a:gd name="adj" fmla="val 5634"/>
            </a:avLst>
          </a:prstGeom>
          <a:solidFill>
            <a:srgbClr val="FFFFFF"/>
          </a:solidFill>
          <a:ln w="12700">
            <a:solidFill>
              <a:srgbClr val="D2CEC4"/>
            </a:solidFill>
            <a:prstDash val="solid"/>
          </a:ln>
        </p:spPr>
      </p:sp>
      <p:sp>
        <p:nvSpPr>
          <p:cNvPr id="17" name="Text 15"/>
          <p:cNvSpPr/>
          <p:nvPr/>
        </p:nvSpPr>
        <p:spPr>
          <a:xfrm>
            <a:off x="4800600"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04</a:t>
            </a:r>
            <a:endParaRPr lang="en-US" sz="1000" dirty="0"/>
          </a:p>
        </p:txBody>
      </p:sp>
      <p:sp>
        <p:nvSpPr>
          <p:cNvPr id="18" name="Text 16"/>
          <p:cNvSpPr/>
          <p:nvPr/>
        </p:nvSpPr>
        <p:spPr>
          <a:xfrm>
            <a:off x="4800600"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Negotiate</a:t>
            </a:r>
            <a:endParaRPr lang="en-US" sz="1250" dirty="0"/>
          </a:p>
        </p:txBody>
      </p:sp>
      <p:sp>
        <p:nvSpPr>
          <p:cNvPr id="19" name="Text 17"/>
          <p:cNvSpPr/>
          <p:nvPr/>
        </p:nvSpPr>
        <p:spPr>
          <a:xfrm>
            <a:off x="4800600"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AGENT</a:t>
            </a:r>
            <a:endParaRPr lang="en-US" sz="900" dirty="0"/>
          </a:p>
        </p:txBody>
      </p:sp>
      <p:sp>
        <p:nvSpPr>
          <p:cNvPr id="20" name="Shape 18"/>
          <p:cNvSpPr/>
          <p:nvPr/>
        </p:nvSpPr>
        <p:spPr>
          <a:xfrm>
            <a:off x="6181344" y="2011680"/>
            <a:ext cx="1298448" cy="1572768"/>
          </a:xfrm>
          <a:prstGeom prst="roundRect">
            <a:avLst>
              <a:gd name="adj" fmla="val 5634"/>
            </a:avLst>
          </a:prstGeom>
          <a:solidFill>
            <a:srgbClr val="FFFFFF"/>
          </a:solidFill>
          <a:ln w="12700">
            <a:solidFill>
              <a:srgbClr val="D2CEC4"/>
            </a:solidFill>
            <a:prstDash val="solid"/>
          </a:ln>
        </p:spPr>
      </p:sp>
      <p:sp>
        <p:nvSpPr>
          <p:cNvPr id="21" name="Text 19"/>
          <p:cNvSpPr/>
          <p:nvPr/>
        </p:nvSpPr>
        <p:spPr>
          <a:xfrm>
            <a:off x="6181344"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05</a:t>
            </a:r>
            <a:endParaRPr lang="en-US" sz="1000" dirty="0"/>
          </a:p>
        </p:txBody>
      </p:sp>
      <p:sp>
        <p:nvSpPr>
          <p:cNvPr id="22" name="Text 20"/>
          <p:cNvSpPr/>
          <p:nvPr/>
        </p:nvSpPr>
        <p:spPr>
          <a:xfrm>
            <a:off x="6181344"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Recommend</a:t>
            </a:r>
            <a:endParaRPr lang="en-US" sz="1250" dirty="0"/>
          </a:p>
        </p:txBody>
      </p:sp>
      <p:sp>
        <p:nvSpPr>
          <p:cNvPr id="23" name="Text 21"/>
          <p:cNvSpPr/>
          <p:nvPr/>
        </p:nvSpPr>
        <p:spPr>
          <a:xfrm>
            <a:off x="6181344"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AGENT</a:t>
            </a:r>
            <a:endParaRPr lang="en-US" sz="900" dirty="0"/>
          </a:p>
        </p:txBody>
      </p:sp>
      <p:sp>
        <p:nvSpPr>
          <p:cNvPr id="24" name="Shape 22"/>
          <p:cNvSpPr/>
          <p:nvPr/>
        </p:nvSpPr>
        <p:spPr>
          <a:xfrm>
            <a:off x="7562088" y="2011680"/>
            <a:ext cx="1298448" cy="1572768"/>
          </a:xfrm>
          <a:prstGeom prst="roundRect">
            <a:avLst>
              <a:gd name="adj" fmla="val 5634"/>
            </a:avLst>
          </a:prstGeom>
          <a:solidFill>
            <a:srgbClr val="FAF2E2"/>
          </a:solidFill>
          <a:ln w="22225">
            <a:solidFill>
              <a:srgbClr val="8A5A00"/>
            </a:solidFill>
            <a:prstDash val="solid"/>
          </a:ln>
        </p:spPr>
      </p:sp>
      <p:sp>
        <p:nvSpPr>
          <p:cNvPr id="25" name="Text 23"/>
          <p:cNvSpPr/>
          <p:nvPr/>
        </p:nvSpPr>
        <p:spPr>
          <a:xfrm>
            <a:off x="7562088" y="2157984"/>
            <a:ext cx="1298448" cy="274320"/>
          </a:xfrm>
          <a:prstGeom prst="rect">
            <a:avLst/>
          </a:prstGeom>
          <a:noFill/>
          <a:ln/>
        </p:spPr>
        <p:txBody>
          <a:bodyPr wrap="square" lIns="0" tIns="0" rIns="0" bIns="0" rtlCol="0" anchor="ctr"/>
          <a:lstStyle/>
          <a:p>
            <a:pPr algn="ctr" indent="0" marL="0">
              <a:buNone/>
            </a:pPr>
            <a:r>
              <a:rPr lang="en-US" sz="1000" b="1" dirty="0">
                <a:solidFill>
                  <a:srgbClr val="8A5A00"/>
                </a:solidFill>
                <a:latin typeface="Calibri" pitchFamily="34" charset="0"/>
                <a:ea typeface="Calibri" pitchFamily="34" charset="-122"/>
                <a:cs typeface="Calibri" pitchFamily="34" charset="-120"/>
              </a:rPr>
              <a:t>06</a:t>
            </a:r>
            <a:endParaRPr lang="en-US" sz="1000" dirty="0"/>
          </a:p>
        </p:txBody>
      </p:sp>
      <p:sp>
        <p:nvSpPr>
          <p:cNvPr id="26" name="Text 24"/>
          <p:cNvSpPr/>
          <p:nvPr/>
        </p:nvSpPr>
        <p:spPr>
          <a:xfrm>
            <a:off x="7562088"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Approve</a:t>
            </a:r>
            <a:endParaRPr lang="en-US" sz="1250" dirty="0"/>
          </a:p>
        </p:txBody>
      </p:sp>
      <p:sp>
        <p:nvSpPr>
          <p:cNvPr id="27" name="Text 25"/>
          <p:cNvSpPr/>
          <p:nvPr/>
        </p:nvSpPr>
        <p:spPr>
          <a:xfrm>
            <a:off x="7562088"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8A5A00"/>
                </a:solidFill>
                <a:latin typeface="Calibri" pitchFamily="34" charset="0"/>
                <a:ea typeface="Calibri" pitchFamily="34" charset="-122"/>
                <a:cs typeface="Calibri" pitchFamily="34" charset="-120"/>
              </a:rPr>
              <a:t>YOU</a:t>
            </a:r>
            <a:endParaRPr lang="en-US" sz="900" dirty="0"/>
          </a:p>
        </p:txBody>
      </p:sp>
      <p:sp>
        <p:nvSpPr>
          <p:cNvPr id="28" name="Shape 26"/>
          <p:cNvSpPr/>
          <p:nvPr/>
        </p:nvSpPr>
        <p:spPr>
          <a:xfrm>
            <a:off x="8942832" y="2011680"/>
            <a:ext cx="1298448" cy="1572768"/>
          </a:xfrm>
          <a:prstGeom prst="roundRect">
            <a:avLst>
              <a:gd name="adj" fmla="val 5634"/>
            </a:avLst>
          </a:prstGeom>
          <a:solidFill>
            <a:srgbClr val="E9F1EF"/>
          </a:solidFill>
          <a:ln w="12700">
            <a:solidFill>
              <a:srgbClr val="E9F1EF"/>
            </a:solidFill>
            <a:prstDash val="solid"/>
          </a:ln>
        </p:spPr>
      </p:sp>
      <p:sp>
        <p:nvSpPr>
          <p:cNvPr id="29" name="Text 27"/>
          <p:cNvSpPr/>
          <p:nvPr/>
        </p:nvSpPr>
        <p:spPr>
          <a:xfrm>
            <a:off x="8942832"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07</a:t>
            </a:r>
            <a:endParaRPr lang="en-US" sz="1000" dirty="0"/>
          </a:p>
        </p:txBody>
      </p:sp>
      <p:sp>
        <p:nvSpPr>
          <p:cNvPr id="30" name="Text 28"/>
          <p:cNvSpPr/>
          <p:nvPr/>
        </p:nvSpPr>
        <p:spPr>
          <a:xfrm>
            <a:off x="8942832" y="2450592"/>
            <a:ext cx="1298448" cy="402336"/>
          </a:xfrm>
          <a:prstGeom prst="rect">
            <a:avLst/>
          </a:prstGeom>
          <a:noFill/>
          <a:ln/>
        </p:spPr>
        <p:txBody>
          <a:bodyPr wrap="square" lIns="0" tIns="0" rIns="0" bIns="0" rtlCol="0" anchor="ctr"/>
          <a:lstStyle/>
          <a:p>
            <a:pPr algn="ctr" indent="0" marL="0">
              <a:buNone/>
            </a:pPr>
            <a:r>
              <a:rPr lang="en-US" sz="1250" b="1" dirty="0">
                <a:solidFill>
                  <a:srgbClr val="084A40"/>
                </a:solidFill>
                <a:latin typeface="Calibri" pitchFamily="34" charset="0"/>
                <a:ea typeface="Calibri" pitchFamily="34" charset="-122"/>
                <a:cs typeface="Calibri" pitchFamily="34" charset="-120"/>
              </a:rPr>
              <a:t>Escrow</a:t>
            </a:r>
            <a:endParaRPr lang="en-US" sz="1250" dirty="0"/>
          </a:p>
        </p:txBody>
      </p:sp>
      <p:sp>
        <p:nvSpPr>
          <p:cNvPr id="31" name="Text 29"/>
          <p:cNvSpPr/>
          <p:nvPr/>
        </p:nvSpPr>
        <p:spPr>
          <a:xfrm>
            <a:off x="8942832"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CONTRACT</a:t>
            </a:r>
            <a:endParaRPr lang="en-US" sz="900" dirty="0"/>
          </a:p>
        </p:txBody>
      </p:sp>
      <p:sp>
        <p:nvSpPr>
          <p:cNvPr id="32" name="Shape 30"/>
          <p:cNvSpPr/>
          <p:nvPr/>
        </p:nvSpPr>
        <p:spPr>
          <a:xfrm>
            <a:off x="10323576" y="2011680"/>
            <a:ext cx="1298448" cy="1572768"/>
          </a:xfrm>
          <a:prstGeom prst="roundRect">
            <a:avLst>
              <a:gd name="adj" fmla="val 5634"/>
            </a:avLst>
          </a:prstGeom>
          <a:solidFill>
            <a:srgbClr val="E9F1EF"/>
          </a:solidFill>
          <a:ln w="12700">
            <a:solidFill>
              <a:srgbClr val="E9F1EF"/>
            </a:solidFill>
            <a:prstDash val="solid"/>
          </a:ln>
        </p:spPr>
      </p:sp>
      <p:sp>
        <p:nvSpPr>
          <p:cNvPr id="33" name="Text 31"/>
          <p:cNvSpPr/>
          <p:nvPr/>
        </p:nvSpPr>
        <p:spPr>
          <a:xfrm>
            <a:off x="10323576"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08</a:t>
            </a:r>
            <a:endParaRPr lang="en-US" sz="1000" dirty="0"/>
          </a:p>
        </p:txBody>
      </p:sp>
      <p:sp>
        <p:nvSpPr>
          <p:cNvPr id="34" name="Text 32"/>
          <p:cNvSpPr/>
          <p:nvPr/>
        </p:nvSpPr>
        <p:spPr>
          <a:xfrm>
            <a:off x="10323576" y="2450592"/>
            <a:ext cx="1298448" cy="402336"/>
          </a:xfrm>
          <a:prstGeom prst="rect">
            <a:avLst/>
          </a:prstGeom>
          <a:noFill/>
          <a:ln/>
        </p:spPr>
        <p:txBody>
          <a:bodyPr wrap="square" lIns="0" tIns="0" rIns="0" bIns="0" rtlCol="0" anchor="ctr"/>
          <a:lstStyle/>
          <a:p>
            <a:pPr algn="ctr" indent="0" marL="0">
              <a:buNone/>
            </a:pPr>
            <a:r>
              <a:rPr lang="en-US" sz="1250" b="1" dirty="0">
                <a:solidFill>
                  <a:srgbClr val="084A40"/>
                </a:solidFill>
                <a:latin typeface="Calibri" pitchFamily="34" charset="0"/>
                <a:ea typeface="Calibri" pitchFamily="34" charset="-122"/>
                <a:cs typeface="Calibri" pitchFamily="34" charset="-120"/>
              </a:rPr>
              <a:t>Settle</a:t>
            </a:r>
            <a:endParaRPr lang="en-US" sz="1250" dirty="0"/>
          </a:p>
        </p:txBody>
      </p:sp>
      <p:sp>
        <p:nvSpPr>
          <p:cNvPr id="35" name="Text 33"/>
          <p:cNvSpPr/>
          <p:nvPr/>
        </p:nvSpPr>
        <p:spPr>
          <a:xfrm>
            <a:off x="10323576"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CONTRACT</a:t>
            </a:r>
            <a:endParaRPr lang="en-US" sz="900" dirty="0"/>
          </a:p>
        </p:txBody>
      </p:sp>
      <p:sp>
        <p:nvSpPr>
          <p:cNvPr id="36" name="Text 34"/>
          <p:cNvSpPr/>
          <p:nvPr/>
        </p:nvSpPr>
        <p:spPr>
          <a:xfrm>
            <a:off x="6665976" y="3675888"/>
            <a:ext cx="1298448" cy="292608"/>
          </a:xfrm>
          <a:prstGeom prst="rect">
            <a:avLst/>
          </a:prstGeom>
          <a:noFill/>
          <a:ln/>
        </p:spPr>
        <p:txBody>
          <a:bodyPr wrap="square" lIns="0" tIns="0" rIns="0" bIns="0" rtlCol="0" anchor="ctr"/>
          <a:lstStyle/>
          <a:p>
            <a:pPr algn="ctr" indent="0" marL="0">
              <a:buNone/>
            </a:pPr>
            <a:r>
              <a:rPr lang="en-US" sz="1050" b="1" dirty="0">
                <a:solidFill>
                  <a:srgbClr val="8A5A00"/>
                </a:solidFill>
                <a:latin typeface="Calibri" pitchFamily="34" charset="0"/>
                <a:ea typeface="Calibri" pitchFamily="34" charset="-122"/>
                <a:cs typeface="Calibri" pitchFamily="34" charset="-120"/>
              </a:rPr>
              <a:t>The agent stops here</a:t>
            </a:r>
            <a:endParaRPr lang="en-US" sz="1050" dirty="0"/>
          </a:p>
        </p:txBody>
      </p:sp>
      <p:sp>
        <p:nvSpPr>
          <p:cNvPr id="37" name="Shape 35"/>
          <p:cNvSpPr/>
          <p:nvPr/>
        </p:nvSpPr>
        <p:spPr>
          <a:xfrm>
            <a:off x="658368" y="4206240"/>
            <a:ext cx="10881360" cy="1143000"/>
          </a:xfrm>
          <a:prstGeom prst="roundRect">
            <a:avLst>
              <a:gd name="adj" fmla="val 5600"/>
            </a:avLst>
          </a:prstGeom>
          <a:solidFill>
            <a:srgbClr val="F1EFEA"/>
          </a:solidFill>
          <a:ln w="12700">
            <a:solidFill>
              <a:srgbClr val="E4E1D9"/>
            </a:solidFill>
            <a:prstDash val="solid"/>
          </a:ln>
        </p:spPr>
      </p:sp>
      <p:sp>
        <p:nvSpPr>
          <p:cNvPr id="38" name="Text 36"/>
          <p:cNvSpPr/>
          <p:nvPr/>
        </p:nvSpPr>
        <p:spPr>
          <a:xfrm>
            <a:off x="960120" y="4206240"/>
            <a:ext cx="10332720" cy="548640"/>
          </a:xfrm>
          <a:prstGeom prst="rect">
            <a:avLst/>
          </a:prstGeom>
          <a:noFill/>
          <a:ln/>
        </p:spPr>
        <p:txBody>
          <a:bodyPr wrap="square" lIns="0" tIns="0" rIns="0" bIns="0" rtlCol="0" anchor="ctr"/>
          <a:lstStyle/>
          <a:p>
            <a:pPr indent="0" marL="0">
              <a:buNone/>
            </a:pPr>
            <a:r>
              <a:rPr lang="en-US" sz="1300" b="1" dirty="0">
                <a:solidFill>
                  <a:srgbClr val="0B5F52"/>
                </a:solidFill>
                <a:latin typeface="Calibri" pitchFamily="34" charset="0"/>
                <a:ea typeface="Calibri" pitchFamily="34" charset="-122"/>
                <a:cs typeface="Calibri" pitchFamily="34" charset="-120"/>
              </a:rPr>
              <a:t>Worked example:   $1,200 budget   ·   7 listings screened   ·   3 shortlisted   ·   3 rounds   ·   settled at $1,175   ·   $75 under list</a:t>
            </a:r>
            <a:endParaRPr lang="en-US" sz="1300" dirty="0"/>
          </a:p>
        </p:txBody>
      </p:sp>
      <p:sp>
        <p:nvSpPr>
          <p:cNvPr id="39" name="Text 37"/>
          <p:cNvSpPr/>
          <p:nvPr/>
        </p:nvSpPr>
        <p:spPr>
          <a:xfrm>
            <a:off x="960120" y="4718304"/>
            <a:ext cx="10332720" cy="457200"/>
          </a:xfrm>
          <a:prstGeom prst="rect">
            <a:avLst/>
          </a:prstGeom>
          <a:noFill/>
          <a:ln/>
        </p:spPr>
        <p:txBody>
          <a:bodyPr wrap="square" lIns="0" tIns="0" rIns="0" bIns="0" rtlCol="0" anchor="ctr"/>
          <a:lstStyle/>
          <a:p>
            <a:pPr indent="0" marL="0">
              <a:buNone/>
            </a:pPr>
            <a:r>
              <a:rPr lang="en-US" sz="1150" dirty="0">
                <a:solidFill>
                  <a:srgbClr val="47525C"/>
                </a:solidFill>
                <a:latin typeface="Calibri" pitchFamily="34" charset="0"/>
                <a:ea typeface="Calibri" pitchFamily="34" charset="-122"/>
                <a:cs typeface="Calibri" pitchFamily="34" charset="-120"/>
              </a:rPr>
              <a:t>Every figure here is produced by the engine and checked by the contract. Nothing on this line is illustrative.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Deterministic core, optional model, enforced edge</a:t>
            </a:r>
            <a:endParaRPr lang="en-US" sz="3200" dirty="0"/>
          </a:p>
        </p:txBody>
      </p:sp>
      <p:sp>
        <p:nvSpPr>
          <p:cNvPr id="4" name="Shape 2"/>
          <p:cNvSpPr/>
          <p:nvPr/>
        </p:nvSpPr>
        <p:spPr>
          <a:xfrm>
            <a:off x="658368" y="1874520"/>
            <a:ext cx="2670048" cy="3200400"/>
          </a:xfrm>
          <a:prstGeom prst="roundRect">
            <a:avLst>
              <a:gd name="adj" fmla="val 2397"/>
            </a:avLst>
          </a:prstGeom>
          <a:solidFill>
            <a:srgbClr val="FFFFFF"/>
          </a:solidFill>
          <a:ln w="12700">
            <a:solidFill>
              <a:srgbClr val="D2CEC4"/>
            </a:solidFill>
            <a:prstDash val="solid"/>
          </a:ln>
        </p:spPr>
      </p:sp>
      <p:sp>
        <p:nvSpPr>
          <p:cNvPr id="5" name="Text 3"/>
          <p:cNvSpPr/>
          <p:nvPr/>
        </p:nvSpPr>
        <p:spPr>
          <a:xfrm>
            <a:off x="877824" y="2084832"/>
            <a:ext cx="2231136" cy="292608"/>
          </a:xfrm>
          <a:prstGeom prst="rect">
            <a:avLst/>
          </a:prstGeom>
          <a:noFill/>
          <a:ln/>
        </p:spPr>
        <p:txBody>
          <a:bodyPr wrap="square" lIns="0" tIns="0" rIns="0" bIns="0" rtlCol="0" anchor="ctr"/>
          <a:lstStyle/>
          <a:p>
            <a:pPr indent="0" marL="0">
              <a:buNone/>
            </a:pPr>
            <a:r>
              <a:rPr lang="en-US" sz="1100" b="1" spc="180" kern="0" dirty="0">
                <a:solidFill>
                  <a:srgbClr val="576169"/>
                </a:solidFill>
                <a:latin typeface="Calibri" pitchFamily="34" charset="0"/>
                <a:ea typeface="Calibri" pitchFamily="34" charset="-122"/>
                <a:cs typeface="Calibri" pitchFamily="34" charset="-120"/>
              </a:rPr>
              <a:t>INTERFACE</a:t>
            </a:r>
            <a:endParaRPr lang="en-US" sz="1100" dirty="0"/>
          </a:p>
        </p:txBody>
      </p:sp>
      <p:sp>
        <p:nvSpPr>
          <p:cNvPr id="6" name="Text 4"/>
          <p:cNvSpPr/>
          <p:nvPr/>
        </p:nvSpPr>
        <p:spPr>
          <a:xfrm>
            <a:off x="877824" y="2450592"/>
            <a:ext cx="2231136"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React 18 and Vite</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Hand-written design system</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Light, dark and system themes</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Live island, command palette</a:t>
            </a:r>
            <a:endParaRPr lang="en-US" sz="1150" dirty="0"/>
          </a:p>
        </p:txBody>
      </p:sp>
      <p:sp>
        <p:nvSpPr>
          <p:cNvPr id="7" name="Shape 5"/>
          <p:cNvSpPr/>
          <p:nvPr/>
        </p:nvSpPr>
        <p:spPr>
          <a:xfrm>
            <a:off x="3438144" y="1874520"/>
            <a:ext cx="2670048" cy="3200400"/>
          </a:xfrm>
          <a:prstGeom prst="roundRect">
            <a:avLst>
              <a:gd name="adj" fmla="val 2397"/>
            </a:avLst>
          </a:prstGeom>
          <a:solidFill>
            <a:srgbClr val="FFFFFF"/>
          </a:solidFill>
          <a:ln w="12700">
            <a:solidFill>
              <a:srgbClr val="D2CEC4"/>
            </a:solidFill>
            <a:prstDash val="solid"/>
          </a:ln>
        </p:spPr>
      </p:sp>
      <p:sp>
        <p:nvSpPr>
          <p:cNvPr id="8" name="Text 6"/>
          <p:cNvSpPr/>
          <p:nvPr/>
        </p:nvSpPr>
        <p:spPr>
          <a:xfrm>
            <a:off x="3657600" y="2084832"/>
            <a:ext cx="2231136" cy="292608"/>
          </a:xfrm>
          <a:prstGeom prst="rect">
            <a:avLst/>
          </a:prstGeom>
          <a:noFill/>
          <a:ln/>
        </p:spPr>
        <p:txBody>
          <a:bodyPr wrap="square" lIns="0" tIns="0" rIns="0" bIns="0" rtlCol="0" anchor="ctr"/>
          <a:lstStyle/>
          <a:p>
            <a:pPr indent="0" marL="0">
              <a:buNone/>
            </a:pPr>
            <a:r>
              <a:rPr lang="en-US" sz="1100" b="1" spc="180" kern="0" dirty="0">
                <a:solidFill>
                  <a:srgbClr val="576169"/>
                </a:solidFill>
                <a:latin typeface="Calibri" pitchFamily="34" charset="0"/>
                <a:ea typeface="Calibri" pitchFamily="34" charset="-122"/>
                <a:cs typeface="Calibri" pitchFamily="34" charset="-120"/>
              </a:rPr>
              <a:t>APPLICATION</a:t>
            </a:r>
            <a:endParaRPr lang="en-US" sz="1100" dirty="0"/>
          </a:p>
        </p:txBody>
      </p:sp>
      <p:sp>
        <p:nvSpPr>
          <p:cNvPr id="9" name="Text 7"/>
          <p:cNvSpPr/>
          <p:nvPr/>
        </p:nvSpPr>
        <p:spPr>
          <a:xfrm>
            <a:off x="3657600" y="2450592"/>
            <a:ext cx="2231136"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Express, 23 routes</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Procurement engine</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Document and PDF builder</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Per-workspace isolation</a:t>
            </a:r>
            <a:endParaRPr lang="en-US" sz="1150" dirty="0"/>
          </a:p>
        </p:txBody>
      </p:sp>
      <p:sp>
        <p:nvSpPr>
          <p:cNvPr id="10" name="Shape 8"/>
          <p:cNvSpPr/>
          <p:nvPr/>
        </p:nvSpPr>
        <p:spPr>
          <a:xfrm>
            <a:off x="6217920" y="1874520"/>
            <a:ext cx="2670048" cy="3200400"/>
          </a:xfrm>
          <a:prstGeom prst="roundRect">
            <a:avLst>
              <a:gd name="adj" fmla="val 2397"/>
            </a:avLst>
          </a:prstGeom>
          <a:solidFill>
            <a:srgbClr val="E9F1EF"/>
          </a:solidFill>
          <a:ln w="12700">
            <a:solidFill>
              <a:srgbClr val="E9F1EF"/>
            </a:solidFill>
            <a:prstDash val="solid"/>
          </a:ln>
        </p:spPr>
      </p:sp>
      <p:sp>
        <p:nvSpPr>
          <p:cNvPr id="11" name="Text 9"/>
          <p:cNvSpPr/>
          <p:nvPr/>
        </p:nvSpPr>
        <p:spPr>
          <a:xfrm>
            <a:off x="6437376" y="2084832"/>
            <a:ext cx="2231136" cy="292608"/>
          </a:xfrm>
          <a:prstGeom prst="rect">
            <a:avLst/>
          </a:prstGeom>
          <a:noFill/>
          <a:ln/>
        </p:spPr>
        <p:txBody>
          <a:bodyPr wrap="square" lIns="0" tIns="0" rIns="0" bIns="0" rtlCol="0" anchor="ctr"/>
          <a:lstStyle/>
          <a:p>
            <a:pPr indent="0" marL="0">
              <a:buNone/>
            </a:pPr>
            <a:r>
              <a:rPr lang="en-US" sz="1100" b="1" spc="180" kern="0" dirty="0">
                <a:solidFill>
                  <a:srgbClr val="0B5F52"/>
                </a:solidFill>
                <a:latin typeface="Calibri" pitchFamily="34" charset="0"/>
                <a:ea typeface="Calibri" pitchFamily="34" charset="-122"/>
                <a:cs typeface="Calibri" pitchFamily="34" charset="-120"/>
              </a:rPr>
              <a:t>EXPLANATION</a:t>
            </a:r>
            <a:endParaRPr lang="en-US" sz="1100" dirty="0"/>
          </a:p>
        </p:txBody>
      </p:sp>
      <p:sp>
        <p:nvSpPr>
          <p:cNvPr id="12" name="Text 10"/>
          <p:cNvSpPr/>
          <p:nvPr/>
        </p:nvSpPr>
        <p:spPr>
          <a:xfrm>
            <a:off x="6437376" y="2450592"/>
            <a:ext cx="2231136"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084A40"/>
                </a:solidFill>
                <a:latin typeface="Calibri" pitchFamily="34" charset="0"/>
                <a:ea typeface="Calibri" pitchFamily="34" charset="-122"/>
                <a:cs typeface="Calibri" pitchFamily="34" charset="-120"/>
              </a:rPr>
              <a:t>counsel.js, zero imports</a:t>
            </a:r>
            <a:endParaRPr lang="en-US" sz="1150" dirty="0"/>
          </a:p>
          <a:p>
            <a:pPr marL="342900" indent="-342900">
              <a:spcAft>
                <a:spcPts val="600"/>
              </a:spcAft>
              <a:buSzPct val="100000"/>
              <a:buChar char="•"/>
            </a:pPr>
            <a:r>
              <a:rPr lang="en-US" sz="1150" dirty="0">
                <a:solidFill>
                  <a:srgbClr val="084A40"/>
                </a:solidFill>
                <a:latin typeface="Calibri" pitchFamily="34" charset="0"/>
                <a:ea typeface="Calibri" pitchFamily="34" charset="-122"/>
                <a:cs typeface="Calibri" pitchFamily="34" charset="-120"/>
              </a:rPr>
              <a:t>decisionbrief.js, zero imports</a:t>
            </a:r>
            <a:endParaRPr lang="en-US" sz="1150" dirty="0"/>
          </a:p>
          <a:p>
            <a:pPr marL="342900" indent="-342900">
              <a:spcAft>
                <a:spcPts val="600"/>
              </a:spcAft>
              <a:buSzPct val="100000"/>
              <a:buChar char="•"/>
            </a:pPr>
            <a:r>
              <a:rPr lang="en-US" sz="1150" dirty="0">
                <a:solidFill>
                  <a:srgbClr val="084A40"/>
                </a:solidFill>
                <a:latin typeface="Calibri" pitchFamily="34" charset="0"/>
                <a:ea typeface="Calibri" pitchFamily="34" charset="-122"/>
                <a:cs typeface="Calibri" pitchFamily="34" charset="-120"/>
              </a:rPr>
              <a:t>Input normalisation</a:t>
            </a:r>
            <a:endParaRPr lang="en-US" sz="1150" dirty="0"/>
          </a:p>
          <a:p>
            <a:pPr marL="342900" indent="-342900">
              <a:spcAft>
                <a:spcPts val="600"/>
              </a:spcAft>
              <a:buSzPct val="100000"/>
              <a:buChar char="•"/>
            </a:pPr>
            <a:r>
              <a:rPr lang="en-US" sz="1150" dirty="0">
                <a:solidFill>
                  <a:srgbClr val="084A40"/>
                </a:solidFill>
                <a:latin typeface="Calibri" pitchFamily="34" charset="0"/>
                <a:ea typeface="Calibri" pitchFamily="34" charset="-122"/>
                <a:cs typeface="Calibri" pitchFamily="34" charset="-120"/>
              </a:rPr>
              <a:t>Optional model, phrasing only</a:t>
            </a:r>
            <a:endParaRPr lang="en-US" sz="1150" dirty="0"/>
          </a:p>
        </p:txBody>
      </p:sp>
      <p:sp>
        <p:nvSpPr>
          <p:cNvPr id="13" name="Shape 11"/>
          <p:cNvSpPr/>
          <p:nvPr/>
        </p:nvSpPr>
        <p:spPr>
          <a:xfrm>
            <a:off x="8997696" y="1874520"/>
            <a:ext cx="2670048" cy="3200400"/>
          </a:xfrm>
          <a:prstGeom prst="roundRect">
            <a:avLst>
              <a:gd name="adj" fmla="val 2397"/>
            </a:avLst>
          </a:prstGeom>
          <a:solidFill>
            <a:srgbClr val="12161A"/>
          </a:solidFill>
          <a:ln w="12700">
            <a:solidFill>
              <a:srgbClr val="12161A"/>
            </a:solidFill>
            <a:prstDash val="solid"/>
          </a:ln>
        </p:spPr>
      </p:sp>
      <p:sp>
        <p:nvSpPr>
          <p:cNvPr id="14" name="Text 12"/>
          <p:cNvSpPr/>
          <p:nvPr/>
        </p:nvSpPr>
        <p:spPr>
          <a:xfrm>
            <a:off x="9217152" y="2084832"/>
            <a:ext cx="2231136" cy="292608"/>
          </a:xfrm>
          <a:prstGeom prst="rect">
            <a:avLst/>
          </a:prstGeom>
          <a:noFill/>
          <a:ln/>
        </p:spPr>
        <p:txBody>
          <a:bodyPr wrap="square" lIns="0" tIns="0" rIns="0" bIns="0" rtlCol="0" anchor="ctr"/>
          <a:lstStyle/>
          <a:p>
            <a:pPr indent="0" marL="0">
              <a:buNone/>
            </a:pPr>
            <a:r>
              <a:rPr lang="en-US" sz="1100" b="1" spc="180" kern="0" dirty="0">
                <a:solidFill>
                  <a:srgbClr val="3FBFA3"/>
                </a:solidFill>
                <a:latin typeface="Calibri" pitchFamily="34" charset="0"/>
                <a:ea typeface="Calibri" pitchFamily="34" charset="-122"/>
                <a:cs typeface="Calibri" pitchFamily="34" charset="-120"/>
              </a:rPr>
              <a:t>CONTRACT</a:t>
            </a:r>
            <a:endParaRPr lang="en-US" sz="1100" dirty="0"/>
          </a:p>
        </p:txBody>
      </p:sp>
      <p:sp>
        <p:nvSpPr>
          <p:cNvPr id="15" name="Text 13"/>
          <p:cNvSpPr/>
          <p:nvPr/>
        </p:nvSpPr>
        <p:spPr>
          <a:xfrm>
            <a:off x="9217152" y="2450592"/>
            <a:ext cx="2231136"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ProcurementEscrow</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SupplierRegistry</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MockUSDC</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In-process EVM, solc 0.8.24</a:t>
            </a:r>
            <a:endParaRPr lang="en-US" sz="1150" dirty="0"/>
          </a:p>
        </p:txBody>
      </p:sp>
      <p:sp>
        <p:nvSpPr>
          <p:cNvPr id="16" name="Text 14"/>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The API orchestrates the run and holds no authority of its own. The spending limit is contract state.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THE INTELLIGENCE LAYER</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The model phrases. It never computes.</a:t>
            </a:r>
            <a:endParaRPr lang="en-US" sz="3200" dirty="0"/>
          </a:p>
        </p:txBody>
      </p:sp>
      <p:sp>
        <p:nvSpPr>
          <p:cNvPr id="4" name="Shape 2"/>
          <p:cNvSpPr/>
          <p:nvPr/>
        </p:nvSpPr>
        <p:spPr>
          <a:xfrm>
            <a:off x="658368" y="1874520"/>
            <a:ext cx="5349240" cy="2148840"/>
          </a:xfrm>
          <a:prstGeom prst="roundRect">
            <a:avLst>
              <a:gd name="adj" fmla="val 2979"/>
            </a:avLst>
          </a:prstGeom>
          <a:solidFill>
            <a:srgbClr val="FFFFFF"/>
          </a:solidFill>
          <a:ln w="12700">
            <a:solidFill>
              <a:srgbClr val="D2CEC4"/>
            </a:solidFill>
            <a:prstDash val="solid"/>
          </a:ln>
        </p:spPr>
      </p:sp>
      <p:sp>
        <p:nvSpPr>
          <p:cNvPr id="5" name="Text 3"/>
          <p:cNvSpPr/>
          <p:nvPr/>
        </p:nvSpPr>
        <p:spPr>
          <a:xfrm>
            <a:off x="932688" y="2066544"/>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What the engine decides</a:t>
            </a:r>
            <a:endParaRPr lang="en-US" sz="1350" dirty="0"/>
          </a:p>
        </p:txBody>
      </p:sp>
      <p:sp>
        <p:nvSpPr>
          <p:cNvPr id="6" name="Text 4"/>
          <p:cNvSpPr/>
          <p:nvPr/>
        </p:nvSpPr>
        <p:spPr>
          <a:xfrm>
            <a:off x="932688" y="2450592"/>
            <a:ext cx="48006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Eligibility, prices and every negotiated figure</a:t>
            </a:r>
            <a:endParaRPr lang="en-US" sz="1200" dirty="0"/>
          </a:p>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Ranking, savings, headroom and fees</a:t>
            </a:r>
            <a:endParaRPr lang="en-US" sz="1200" dirty="0"/>
          </a:p>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Everything printed on a document</a:t>
            </a:r>
            <a:endParaRPr lang="en-US" sz="1200" dirty="0"/>
          </a:p>
        </p:txBody>
      </p:sp>
      <p:sp>
        <p:nvSpPr>
          <p:cNvPr id="7" name="Shape 5"/>
          <p:cNvSpPr/>
          <p:nvPr/>
        </p:nvSpPr>
        <p:spPr>
          <a:xfrm>
            <a:off x="6190488" y="1874520"/>
            <a:ext cx="5349240" cy="2148840"/>
          </a:xfrm>
          <a:prstGeom prst="roundRect">
            <a:avLst>
              <a:gd name="adj" fmla="val 2979"/>
            </a:avLst>
          </a:prstGeom>
          <a:solidFill>
            <a:srgbClr val="FFFFFF"/>
          </a:solidFill>
          <a:ln w="12700">
            <a:solidFill>
              <a:srgbClr val="D2CEC4"/>
            </a:solidFill>
            <a:prstDash val="solid"/>
          </a:ln>
        </p:spPr>
      </p:sp>
      <p:sp>
        <p:nvSpPr>
          <p:cNvPr id="8" name="Text 6"/>
          <p:cNvSpPr/>
          <p:nvPr/>
        </p:nvSpPr>
        <p:spPr>
          <a:xfrm>
            <a:off x="6464808" y="2066544"/>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What the model may do</a:t>
            </a:r>
            <a:endParaRPr lang="en-US" sz="1350" dirty="0"/>
          </a:p>
        </p:txBody>
      </p:sp>
      <p:sp>
        <p:nvSpPr>
          <p:cNvPr id="9" name="Text 7"/>
          <p:cNvSpPr/>
          <p:nvPr/>
        </p:nvSpPr>
        <p:spPr>
          <a:xfrm>
            <a:off x="6464808" y="2450592"/>
            <a:ext cx="48006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Reword an answer that is already correct</a:t>
            </a:r>
            <a:endParaRPr lang="en-US" sz="1200" dirty="0"/>
          </a:p>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Never introduce a price, date, name or quantity</a:t>
            </a:r>
            <a:endParaRPr lang="en-US" sz="1200" dirty="0"/>
          </a:p>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Pull the key and the product behaves identically</a:t>
            </a:r>
            <a:endParaRPr lang="en-US" sz="1200" dirty="0"/>
          </a:p>
        </p:txBody>
      </p:sp>
      <p:sp>
        <p:nvSpPr>
          <p:cNvPr id="10" name="Shape 8"/>
          <p:cNvSpPr/>
          <p:nvPr/>
        </p:nvSpPr>
        <p:spPr>
          <a:xfrm>
            <a:off x="658368" y="4224528"/>
            <a:ext cx="10881360" cy="1371600"/>
          </a:xfrm>
          <a:prstGeom prst="roundRect">
            <a:avLst>
              <a:gd name="adj" fmla="val 4667"/>
            </a:avLst>
          </a:prstGeom>
          <a:solidFill>
            <a:srgbClr val="12161A"/>
          </a:solidFill>
          <a:ln w="12700">
            <a:solidFill>
              <a:srgbClr val="12161A"/>
            </a:solidFill>
            <a:prstDash val="solid"/>
          </a:ln>
        </p:spPr>
      </p:sp>
      <p:sp>
        <p:nvSpPr>
          <p:cNvPr id="11" name="Text 9"/>
          <p:cNvSpPr/>
          <p:nvPr/>
        </p:nvSpPr>
        <p:spPr>
          <a:xfrm>
            <a:off x="960120" y="4389120"/>
            <a:ext cx="10241280" cy="310896"/>
          </a:xfrm>
          <a:prstGeom prst="rect">
            <a:avLst/>
          </a:prstGeom>
          <a:noFill/>
          <a:ln/>
        </p:spPr>
        <p:txBody>
          <a:bodyPr wrap="square" lIns="0" tIns="0" rIns="0" bIns="0" rtlCol="0" anchor="ctr"/>
          <a:lstStyle/>
          <a:p>
            <a:pPr indent="0" marL="0">
              <a:buNone/>
            </a:pPr>
            <a:r>
              <a:rPr lang="en-US" sz="1350" b="1" dirty="0">
                <a:solidFill>
                  <a:srgbClr val="3FBFA3"/>
                </a:solidFill>
                <a:latin typeface="Calibri" pitchFamily="34" charset="0"/>
                <a:ea typeface="Calibri" pitchFamily="34" charset="-122"/>
                <a:cs typeface="Calibri" pitchFamily="34" charset="-120"/>
              </a:rPr>
              <a:t>The capability boundary is the import list</a:t>
            </a:r>
            <a:endParaRPr lang="en-US" sz="1350" dirty="0"/>
          </a:p>
        </p:txBody>
      </p:sp>
      <p:sp>
        <p:nvSpPr>
          <p:cNvPr id="12" name="Text 10"/>
          <p:cNvSpPr/>
          <p:nvPr/>
        </p:nvSpPr>
        <p:spPr>
          <a:xfrm>
            <a:off x="960120" y="4736592"/>
            <a:ext cx="10241280" cy="731520"/>
          </a:xfrm>
          <a:prstGeom prst="rect">
            <a:avLst/>
          </a:prstGeom>
          <a:noFill/>
          <a:ln/>
        </p:spPr>
        <p:txBody>
          <a:bodyPr wrap="square" lIns="0" tIns="0" rIns="0" bIns="0" rtlCol="0" anchor="t"/>
          <a:lstStyle/>
          <a:p>
            <a:pPr indent="0" marL="0">
              <a:buNone/>
            </a:pPr>
            <a:r>
              <a:rPr lang="en-US" sz="1250" dirty="0">
                <a:solidFill>
                  <a:srgbClr val="C3DCD5"/>
                </a:solidFill>
                <a:latin typeface="Calibri" pitchFamily="34" charset="0"/>
                <a:ea typeface="Calibri" pitchFamily="34" charset="-122"/>
                <a:cs typeface="Calibri" pitchFamily="34" charset="-120"/>
              </a:rPr>
              <a:t>counsel.js and decisionbrief.js have zero imports. No chain, no signer, no network. "The explainer cannot move money" is a property of the file a reviewer confirms by reading ten lines, not a policy someone has to keep enforcing.</a:t>
            </a:r>
            <a:endParaRPr lang="en-US" sz="1250" dirty="0"/>
          </a:p>
        </p:txBody>
      </p:sp>
      <p:sp>
        <p:nvSpPr>
          <p:cNvPr id="13" name="Text 11"/>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Instructions to act are refused clause by clause before any model call, so an instruction hidden behind a question is still caught.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SUPPLIER DISCOVERY</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Screened on requirements, not on price alone</a:t>
            </a:r>
            <a:endParaRPr lang="en-US" sz="3200" dirty="0"/>
          </a:p>
        </p:txBody>
      </p:sp>
      <p:sp>
        <p:nvSpPr>
          <p:cNvPr id="4" name="Text 2"/>
          <p:cNvSpPr/>
          <p:nvPr/>
        </p:nvSpPr>
        <p:spPr>
          <a:xfrm>
            <a:off x="658368" y="1828800"/>
            <a:ext cx="21031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15</a:t>
            </a:r>
            <a:endParaRPr lang="en-US" sz="3800" dirty="0"/>
          </a:p>
        </p:txBody>
      </p:sp>
      <p:sp>
        <p:nvSpPr>
          <p:cNvPr id="5" name="Text 3"/>
          <p:cNvSpPr/>
          <p:nvPr/>
        </p:nvSpPr>
        <p:spPr>
          <a:xfrm>
            <a:off x="658368" y="2468880"/>
            <a:ext cx="21031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suppliers</a:t>
            </a:r>
            <a:endParaRPr lang="en-US" sz="1150" dirty="0"/>
          </a:p>
        </p:txBody>
      </p:sp>
      <p:sp>
        <p:nvSpPr>
          <p:cNvPr id="6" name="Text 4"/>
          <p:cNvSpPr/>
          <p:nvPr/>
        </p:nvSpPr>
        <p:spPr>
          <a:xfrm>
            <a:off x="2743200" y="1828800"/>
            <a:ext cx="21031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39</a:t>
            </a:r>
            <a:endParaRPr lang="en-US" sz="3800" dirty="0"/>
          </a:p>
        </p:txBody>
      </p:sp>
      <p:sp>
        <p:nvSpPr>
          <p:cNvPr id="7" name="Text 5"/>
          <p:cNvSpPr/>
          <p:nvPr/>
        </p:nvSpPr>
        <p:spPr>
          <a:xfrm>
            <a:off x="2743200" y="2468880"/>
            <a:ext cx="21031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listings</a:t>
            </a:r>
            <a:endParaRPr lang="en-US" sz="1150" dirty="0"/>
          </a:p>
        </p:txBody>
      </p:sp>
      <p:sp>
        <p:nvSpPr>
          <p:cNvPr id="8" name="Text 6"/>
          <p:cNvSpPr/>
          <p:nvPr/>
        </p:nvSpPr>
        <p:spPr>
          <a:xfrm>
            <a:off x="4828032" y="1828800"/>
            <a:ext cx="21031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13</a:t>
            </a:r>
            <a:endParaRPr lang="en-US" sz="3800" dirty="0"/>
          </a:p>
        </p:txBody>
      </p:sp>
      <p:sp>
        <p:nvSpPr>
          <p:cNvPr id="9" name="Text 7"/>
          <p:cNvSpPr/>
          <p:nvPr/>
        </p:nvSpPr>
        <p:spPr>
          <a:xfrm>
            <a:off x="4828032" y="2468880"/>
            <a:ext cx="21031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materials</a:t>
            </a:r>
            <a:endParaRPr lang="en-US" sz="1150" dirty="0"/>
          </a:p>
        </p:txBody>
      </p:sp>
      <p:sp>
        <p:nvSpPr>
          <p:cNvPr id="10" name="Text 8"/>
          <p:cNvSpPr/>
          <p:nvPr/>
        </p:nvSpPr>
        <p:spPr>
          <a:xfrm>
            <a:off x="6912864" y="1828800"/>
            <a:ext cx="21031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13</a:t>
            </a:r>
            <a:endParaRPr lang="en-US" sz="3800" dirty="0"/>
          </a:p>
        </p:txBody>
      </p:sp>
      <p:sp>
        <p:nvSpPr>
          <p:cNvPr id="11" name="Text 9"/>
          <p:cNvSpPr/>
          <p:nvPr/>
        </p:nvSpPr>
        <p:spPr>
          <a:xfrm>
            <a:off x="6912864" y="2468880"/>
            <a:ext cx="21031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countries</a:t>
            </a:r>
            <a:endParaRPr lang="en-US" sz="1150" dirty="0"/>
          </a:p>
        </p:txBody>
      </p:sp>
      <p:sp>
        <p:nvSpPr>
          <p:cNvPr id="12" name="Text 10"/>
          <p:cNvSpPr/>
          <p:nvPr/>
        </p:nvSpPr>
        <p:spPr>
          <a:xfrm>
            <a:off x="8997696" y="1828800"/>
            <a:ext cx="25603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17</a:t>
            </a:r>
            <a:endParaRPr lang="en-US" sz="3800" dirty="0"/>
          </a:p>
        </p:txBody>
      </p:sp>
      <p:sp>
        <p:nvSpPr>
          <p:cNvPr id="13" name="Text 11"/>
          <p:cNvSpPr/>
          <p:nvPr/>
        </p:nvSpPr>
        <p:spPr>
          <a:xfrm>
            <a:off x="8997696" y="2468880"/>
            <a:ext cx="25603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worked scenarios</a:t>
            </a:r>
            <a:endParaRPr lang="en-US" sz="1150" dirty="0"/>
          </a:p>
        </p:txBody>
      </p:sp>
      <p:sp>
        <p:nvSpPr>
          <p:cNvPr id="14" name="Shape 12"/>
          <p:cNvSpPr/>
          <p:nvPr/>
        </p:nvSpPr>
        <p:spPr>
          <a:xfrm>
            <a:off x="658368" y="3566160"/>
            <a:ext cx="5349240" cy="2011680"/>
          </a:xfrm>
          <a:prstGeom prst="roundRect">
            <a:avLst>
              <a:gd name="adj" fmla="val 3182"/>
            </a:avLst>
          </a:prstGeom>
          <a:solidFill>
            <a:srgbClr val="FFFFFF"/>
          </a:solidFill>
          <a:ln w="12700">
            <a:solidFill>
              <a:srgbClr val="D2CEC4"/>
            </a:solidFill>
            <a:prstDash val="solid"/>
          </a:ln>
        </p:spPr>
      </p:sp>
      <p:sp>
        <p:nvSpPr>
          <p:cNvPr id="15" name="Text 13"/>
          <p:cNvSpPr/>
          <p:nvPr/>
        </p:nvSpPr>
        <p:spPr>
          <a:xfrm>
            <a:off x="932688" y="3749040"/>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Hard constraints exclude</a:t>
            </a:r>
            <a:endParaRPr lang="en-US" sz="1350" dirty="0"/>
          </a:p>
        </p:txBody>
      </p:sp>
      <p:sp>
        <p:nvSpPr>
          <p:cNvPr id="16" name="Text 14"/>
          <p:cNvSpPr/>
          <p:nvPr/>
        </p:nvSpPr>
        <p:spPr>
          <a:xfrm>
            <a:off x="932688" y="4114800"/>
            <a:ext cx="4800600" cy="1280160"/>
          </a:xfrm>
          <a:prstGeom prst="rect">
            <a:avLst/>
          </a:prstGeom>
          <a:noFill/>
          <a:ln/>
        </p:spPr>
        <p:txBody>
          <a:bodyPr wrap="square" lIns="0" tIns="0" rIns="0" bIns="0" rtlCol="0" anchor="t"/>
          <a:lstStyle/>
          <a:p>
            <a:pPr indent="0" marL="0">
              <a:buNone/>
            </a:pPr>
            <a:r>
              <a:rPr lang="en-US" sz="1250" dirty="0">
                <a:solidFill>
                  <a:srgbClr val="47525C"/>
                </a:solidFill>
                <a:latin typeface="Calibri" pitchFamily="34" charset="0"/>
                <a:ea typeface="Calibri" pitchFamily="34" charset="-122"/>
                <a:cs typeface="Calibri" pitchFamily="34" charset="-120"/>
              </a:rPr>
              <a:t>A missing certification, a grade mismatch or a minimum order that cannot be met removes the supplier before any bargaining, and the record names the constraint that caused it.</a:t>
            </a:r>
            <a:endParaRPr lang="en-US" sz="1250" dirty="0"/>
          </a:p>
        </p:txBody>
      </p:sp>
      <p:sp>
        <p:nvSpPr>
          <p:cNvPr id="17" name="Shape 15"/>
          <p:cNvSpPr/>
          <p:nvPr/>
        </p:nvSpPr>
        <p:spPr>
          <a:xfrm>
            <a:off x="6190488" y="3566160"/>
            <a:ext cx="5349240" cy="2011680"/>
          </a:xfrm>
          <a:prstGeom prst="roundRect">
            <a:avLst>
              <a:gd name="adj" fmla="val 3182"/>
            </a:avLst>
          </a:prstGeom>
          <a:solidFill>
            <a:srgbClr val="E9F1EF"/>
          </a:solidFill>
          <a:ln w="12700">
            <a:solidFill>
              <a:srgbClr val="B2CCC5"/>
            </a:solidFill>
            <a:prstDash val="solid"/>
          </a:ln>
        </p:spPr>
      </p:sp>
      <p:sp>
        <p:nvSpPr>
          <p:cNvPr id="18" name="Text 16"/>
          <p:cNvSpPr/>
          <p:nvPr/>
        </p:nvSpPr>
        <p:spPr>
          <a:xfrm>
            <a:off x="6464808" y="3749040"/>
            <a:ext cx="4800600" cy="310896"/>
          </a:xfrm>
          <a:prstGeom prst="rect">
            <a:avLst/>
          </a:prstGeom>
          <a:noFill/>
          <a:ln/>
        </p:spPr>
        <p:txBody>
          <a:bodyPr wrap="square" lIns="0" tIns="0" rIns="0" bIns="0" rtlCol="0" anchor="ctr"/>
          <a:lstStyle/>
          <a:p>
            <a:pPr indent="0" marL="0">
              <a:buNone/>
            </a:pPr>
            <a:r>
              <a:rPr lang="en-US" sz="1350" b="1" dirty="0">
                <a:solidFill>
                  <a:srgbClr val="084A40"/>
                </a:solidFill>
                <a:latin typeface="Calibri" pitchFamily="34" charset="0"/>
                <a:ea typeface="Calibri" pitchFamily="34" charset="-122"/>
                <a:cs typeface="Calibri" pitchFamily="34" charset="-120"/>
              </a:rPr>
              <a:t>Soft constraints survive to negotiation</a:t>
            </a:r>
            <a:endParaRPr lang="en-US" sz="1350" dirty="0"/>
          </a:p>
        </p:txBody>
      </p:sp>
      <p:sp>
        <p:nvSpPr>
          <p:cNvPr id="19" name="Text 17"/>
          <p:cNvSpPr/>
          <p:nvPr/>
        </p:nvSpPr>
        <p:spPr>
          <a:xfrm>
            <a:off x="6464808" y="4114800"/>
            <a:ext cx="4800600" cy="1280160"/>
          </a:xfrm>
          <a:prstGeom prst="rect">
            <a:avLst/>
          </a:prstGeom>
          <a:noFill/>
          <a:ln/>
        </p:spPr>
        <p:txBody>
          <a:bodyPr wrap="square" lIns="0" tIns="0" rIns="0" bIns="0" rtlCol="0" anchor="t"/>
          <a:lstStyle/>
          <a:p>
            <a:pPr indent="0" marL="0">
              <a:buNone/>
            </a:pPr>
            <a:r>
              <a:rPr lang="en-US" sz="1250" dirty="0">
                <a:solidFill>
                  <a:srgbClr val="47525C"/>
                </a:solidFill>
                <a:latin typeface="Calibri" pitchFamily="34" charset="0"/>
                <a:ea typeface="Calibri" pitchFamily="34" charset="-122"/>
                <a:cs typeface="Calibri" pitchFamily="34" charset="-120"/>
              </a:rPr>
              <a:t>Price and lead time are things to bargain over. In the worked example the cheapest listing on the board loses, because it fails a requirement that cannot be negotiated away.</a:t>
            </a:r>
            <a:endParaRPr lang="en-US" sz="1250" dirty="0"/>
          </a:p>
        </p:txBody>
      </p:sp>
      <p:sp>
        <p:nvSpPr>
          <p:cNvPr id="20" name="Text 18"/>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Price is negotiable. A certificate is not.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NEGOTIATION</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Bounded offers against a price it cannot see</a:t>
            </a:r>
            <a:endParaRPr lang="en-US" sz="3200" dirty="0"/>
          </a:p>
        </p:txBody>
      </p:sp>
      <p:sp>
        <p:nvSpPr>
          <p:cNvPr id="4" name="Shape 2"/>
          <p:cNvSpPr/>
          <p:nvPr/>
        </p:nvSpPr>
        <p:spPr>
          <a:xfrm>
            <a:off x="658368" y="1847088"/>
            <a:ext cx="5029200" cy="475488"/>
          </a:xfrm>
          <a:prstGeom prst="roundRect">
            <a:avLst>
              <a:gd name="adj" fmla="val 11538"/>
            </a:avLst>
          </a:prstGeom>
          <a:solidFill>
            <a:srgbClr val="FFFFFF"/>
          </a:solidFill>
          <a:ln w="12700">
            <a:solidFill>
              <a:srgbClr val="E4E1D9"/>
            </a:solidFill>
            <a:prstDash val="solid"/>
          </a:ln>
        </p:spPr>
      </p:sp>
      <p:sp>
        <p:nvSpPr>
          <p:cNvPr id="5" name="Text 3"/>
          <p:cNvSpPr/>
          <p:nvPr/>
        </p:nvSpPr>
        <p:spPr>
          <a:xfrm>
            <a:off x="877824" y="1847088"/>
            <a:ext cx="2926080" cy="475488"/>
          </a:xfrm>
          <a:prstGeom prst="rect">
            <a:avLst/>
          </a:prstGeom>
          <a:noFill/>
          <a:ln/>
        </p:spPr>
        <p:txBody>
          <a:bodyPr wrap="square" lIns="0" tIns="0" rIns="0" bIns="0" rtlCol="0" anchor="ctr"/>
          <a:lstStyle/>
          <a:p>
            <a:pPr indent="0" marL="0">
              <a:buNone/>
            </a:pPr>
            <a:r>
              <a:rPr lang="en-US" sz="1200" dirty="0">
                <a:solidFill>
                  <a:srgbClr val="47525C"/>
                </a:solidFill>
                <a:latin typeface="Calibri" pitchFamily="34" charset="0"/>
                <a:ea typeface="Calibri" pitchFamily="34" charset="-122"/>
                <a:cs typeface="Calibri" pitchFamily="34" charset="-120"/>
              </a:rPr>
              <a:t>Supplier opens</a:t>
            </a:r>
            <a:endParaRPr lang="en-US" sz="1200" dirty="0"/>
          </a:p>
        </p:txBody>
      </p:sp>
      <p:sp>
        <p:nvSpPr>
          <p:cNvPr id="6" name="Text 4"/>
          <p:cNvSpPr/>
          <p:nvPr/>
        </p:nvSpPr>
        <p:spPr>
          <a:xfrm>
            <a:off x="3931920" y="184708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$2.50/kg</a:t>
            </a:r>
            <a:endParaRPr lang="en-US" sz="1250" dirty="0"/>
          </a:p>
        </p:txBody>
      </p:sp>
      <p:sp>
        <p:nvSpPr>
          <p:cNvPr id="7" name="Shape 5"/>
          <p:cNvSpPr/>
          <p:nvPr/>
        </p:nvSpPr>
        <p:spPr>
          <a:xfrm>
            <a:off x="658368" y="2395728"/>
            <a:ext cx="5029200" cy="475488"/>
          </a:xfrm>
          <a:prstGeom prst="roundRect">
            <a:avLst>
              <a:gd name="adj" fmla="val 11538"/>
            </a:avLst>
          </a:prstGeom>
          <a:solidFill>
            <a:srgbClr val="FFFFFF"/>
          </a:solidFill>
          <a:ln w="12700">
            <a:solidFill>
              <a:srgbClr val="E4E1D9"/>
            </a:solidFill>
            <a:prstDash val="solid"/>
          </a:ln>
        </p:spPr>
      </p:sp>
      <p:sp>
        <p:nvSpPr>
          <p:cNvPr id="8" name="Text 6"/>
          <p:cNvSpPr/>
          <p:nvPr/>
        </p:nvSpPr>
        <p:spPr>
          <a:xfrm>
            <a:off x="877824" y="2395728"/>
            <a:ext cx="2926080" cy="475488"/>
          </a:xfrm>
          <a:prstGeom prst="rect">
            <a:avLst/>
          </a:prstGeom>
          <a:noFill/>
          <a:ln/>
        </p:spPr>
        <p:txBody>
          <a:bodyPr wrap="square" lIns="0" tIns="0" rIns="0" bIns="0" rtlCol="0" anchor="ctr"/>
          <a:lstStyle/>
          <a:p>
            <a:pPr indent="0" marL="0">
              <a:buNone/>
            </a:pPr>
            <a:r>
              <a:rPr lang="en-US" sz="1200" dirty="0">
                <a:solidFill>
                  <a:srgbClr val="101418"/>
                </a:solidFill>
                <a:latin typeface="Calibri" pitchFamily="34" charset="0"/>
                <a:ea typeface="Calibri" pitchFamily="34" charset="-122"/>
                <a:cs typeface="Calibri" pitchFamily="34" charset="-120"/>
              </a:rPr>
              <a:t>Agent offers</a:t>
            </a:r>
            <a:endParaRPr lang="en-US" sz="1200" dirty="0"/>
          </a:p>
        </p:txBody>
      </p:sp>
      <p:sp>
        <p:nvSpPr>
          <p:cNvPr id="9" name="Text 7"/>
          <p:cNvSpPr/>
          <p:nvPr/>
        </p:nvSpPr>
        <p:spPr>
          <a:xfrm>
            <a:off x="3931920" y="239572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$2.20/kg</a:t>
            </a:r>
            <a:endParaRPr lang="en-US" sz="1250" dirty="0"/>
          </a:p>
        </p:txBody>
      </p:sp>
      <p:sp>
        <p:nvSpPr>
          <p:cNvPr id="10" name="Shape 8"/>
          <p:cNvSpPr/>
          <p:nvPr/>
        </p:nvSpPr>
        <p:spPr>
          <a:xfrm>
            <a:off x="658368" y="2944368"/>
            <a:ext cx="5029200" cy="475488"/>
          </a:xfrm>
          <a:prstGeom prst="roundRect">
            <a:avLst>
              <a:gd name="adj" fmla="val 11538"/>
            </a:avLst>
          </a:prstGeom>
          <a:solidFill>
            <a:srgbClr val="FFFFFF"/>
          </a:solidFill>
          <a:ln w="12700">
            <a:solidFill>
              <a:srgbClr val="E4E1D9"/>
            </a:solidFill>
            <a:prstDash val="solid"/>
          </a:ln>
        </p:spPr>
      </p:sp>
      <p:sp>
        <p:nvSpPr>
          <p:cNvPr id="11" name="Text 9"/>
          <p:cNvSpPr/>
          <p:nvPr/>
        </p:nvSpPr>
        <p:spPr>
          <a:xfrm>
            <a:off x="877824" y="2944368"/>
            <a:ext cx="2926080" cy="475488"/>
          </a:xfrm>
          <a:prstGeom prst="rect">
            <a:avLst/>
          </a:prstGeom>
          <a:noFill/>
          <a:ln/>
        </p:spPr>
        <p:txBody>
          <a:bodyPr wrap="square" lIns="0" tIns="0" rIns="0" bIns="0" rtlCol="0" anchor="ctr"/>
          <a:lstStyle/>
          <a:p>
            <a:pPr indent="0" marL="0">
              <a:buNone/>
            </a:pPr>
            <a:r>
              <a:rPr lang="en-US" sz="1200" dirty="0">
                <a:solidFill>
                  <a:srgbClr val="47525C"/>
                </a:solidFill>
                <a:latin typeface="Calibri" pitchFamily="34" charset="0"/>
                <a:ea typeface="Calibri" pitchFamily="34" charset="-122"/>
                <a:cs typeface="Calibri" pitchFamily="34" charset="-120"/>
              </a:rPr>
              <a:t>Supplier</a:t>
            </a:r>
            <a:endParaRPr lang="en-US" sz="1200" dirty="0"/>
          </a:p>
        </p:txBody>
      </p:sp>
      <p:sp>
        <p:nvSpPr>
          <p:cNvPr id="12" name="Text 10"/>
          <p:cNvSpPr/>
          <p:nvPr/>
        </p:nvSpPr>
        <p:spPr>
          <a:xfrm>
            <a:off x="3931920" y="294436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$2.44/kg</a:t>
            </a:r>
            <a:endParaRPr lang="en-US" sz="1250" dirty="0"/>
          </a:p>
        </p:txBody>
      </p:sp>
      <p:sp>
        <p:nvSpPr>
          <p:cNvPr id="13" name="Shape 11"/>
          <p:cNvSpPr/>
          <p:nvPr/>
        </p:nvSpPr>
        <p:spPr>
          <a:xfrm>
            <a:off x="658368" y="3493008"/>
            <a:ext cx="5029200" cy="475488"/>
          </a:xfrm>
          <a:prstGeom prst="roundRect">
            <a:avLst>
              <a:gd name="adj" fmla="val 11538"/>
            </a:avLst>
          </a:prstGeom>
          <a:solidFill>
            <a:srgbClr val="FFFFFF"/>
          </a:solidFill>
          <a:ln w="12700">
            <a:solidFill>
              <a:srgbClr val="E4E1D9"/>
            </a:solidFill>
            <a:prstDash val="solid"/>
          </a:ln>
        </p:spPr>
      </p:sp>
      <p:sp>
        <p:nvSpPr>
          <p:cNvPr id="14" name="Text 12"/>
          <p:cNvSpPr/>
          <p:nvPr/>
        </p:nvSpPr>
        <p:spPr>
          <a:xfrm>
            <a:off x="877824" y="3493008"/>
            <a:ext cx="2926080" cy="475488"/>
          </a:xfrm>
          <a:prstGeom prst="rect">
            <a:avLst/>
          </a:prstGeom>
          <a:noFill/>
          <a:ln/>
        </p:spPr>
        <p:txBody>
          <a:bodyPr wrap="square" lIns="0" tIns="0" rIns="0" bIns="0" rtlCol="0" anchor="ctr"/>
          <a:lstStyle/>
          <a:p>
            <a:pPr indent="0" marL="0">
              <a:buNone/>
            </a:pPr>
            <a:r>
              <a:rPr lang="en-US" sz="1200" dirty="0">
                <a:solidFill>
                  <a:srgbClr val="101418"/>
                </a:solidFill>
                <a:latin typeface="Calibri" pitchFamily="34" charset="0"/>
                <a:ea typeface="Calibri" pitchFamily="34" charset="-122"/>
                <a:cs typeface="Calibri" pitchFamily="34" charset="-120"/>
              </a:rPr>
              <a:t>Agent</a:t>
            </a:r>
            <a:endParaRPr lang="en-US" sz="1200" dirty="0"/>
          </a:p>
        </p:txBody>
      </p:sp>
      <p:sp>
        <p:nvSpPr>
          <p:cNvPr id="15" name="Text 13"/>
          <p:cNvSpPr/>
          <p:nvPr/>
        </p:nvSpPr>
        <p:spPr>
          <a:xfrm>
            <a:off x="3931920" y="349300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$2.30/kg</a:t>
            </a:r>
            <a:endParaRPr lang="en-US" sz="1250" dirty="0"/>
          </a:p>
        </p:txBody>
      </p:sp>
      <p:sp>
        <p:nvSpPr>
          <p:cNvPr id="16" name="Shape 14"/>
          <p:cNvSpPr/>
          <p:nvPr/>
        </p:nvSpPr>
        <p:spPr>
          <a:xfrm>
            <a:off x="658368" y="4041648"/>
            <a:ext cx="5029200" cy="475488"/>
          </a:xfrm>
          <a:prstGeom prst="roundRect">
            <a:avLst>
              <a:gd name="adj" fmla="val 11538"/>
            </a:avLst>
          </a:prstGeom>
          <a:solidFill>
            <a:srgbClr val="FFFFFF"/>
          </a:solidFill>
          <a:ln w="12700">
            <a:solidFill>
              <a:srgbClr val="E4E1D9"/>
            </a:solidFill>
            <a:prstDash val="solid"/>
          </a:ln>
        </p:spPr>
      </p:sp>
      <p:sp>
        <p:nvSpPr>
          <p:cNvPr id="17" name="Text 15"/>
          <p:cNvSpPr/>
          <p:nvPr/>
        </p:nvSpPr>
        <p:spPr>
          <a:xfrm>
            <a:off x="877824" y="4041648"/>
            <a:ext cx="2926080" cy="475488"/>
          </a:xfrm>
          <a:prstGeom prst="rect">
            <a:avLst/>
          </a:prstGeom>
          <a:noFill/>
          <a:ln/>
        </p:spPr>
        <p:txBody>
          <a:bodyPr wrap="square" lIns="0" tIns="0" rIns="0" bIns="0" rtlCol="0" anchor="ctr"/>
          <a:lstStyle/>
          <a:p>
            <a:pPr indent="0" marL="0">
              <a:buNone/>
            </a:pPr>
            <a:r>
              <a:rPr lang="en-US" sz="1200" dirty="0">
                <a:solidFill>
                  <a:srgbClr val="47525C"/>
                </a:solidFill>
                <a:latin typeface="Calibri" pitchFamily="34" charset="0"/>
                <a:ea typeface="Calibri" pitchFamily="34" charset="-122"/>
                <a:cs typeface="Calibri" pitchFamily="34" charset="-120"/>
              </a:rPr>
              <a:t>Supplier</a:t>
            </a:r>
            <a:endParaRPr lang="en-US" sz="1200" dirty="0"/>
          </a:p>
        </p:txBody>
      </p:sp>
      <p:sp>
        <p:nvSpPr>
          <p:cNvPr id="18" name="Text 16"/>
          <p:cNvSpPr/>
          <p:nvPr/>
        </p:nvSpPr>
        <p:spPr>
          <a:xfrm>
            <a:off x="3931920" y="404164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$2.40/kg</a:t>
            </a:r>
            <a:endParaRPr lang="en-US" sz="1250" dirty="0"/>
          </a:p>
        </p:txBody>
      </p:sp>
      <p:sp>
        <p:nvSpPr>
          <p:cNvPr id="19" name="Shape 17"/>
          <p:cNvSpPr/>
          <p:nvPr/>
        </p:nvSpPr>
        <p:spPr>
          <a:xfrm>
            <a:off x="658368" y="4590288"/>
            <a:ext cx="5029200" cy="475488"/>
          </a:xfrm>
          <a:prstGeom prst="roundRect">
            <a:avLst>
              <a:gd name="adj" fmla="val 11538"/>
            </a:avLst>
          </a:prstGeom>
          <a:solidFill>
            <a:srgbClr val="FFFFFF"/>
          </a:solidFill>
          <a:ln w="12700">
            <a:solidFill>
              <a:srgbClr val="E4E1D9"/>
            </a:solidFill>
            <a:prstDash val="solid"/>
          </a:ln>
        </p:spPr>
      </p:sp>
      <p:sp>
        <p:nvSpPr>
          <p:cNvPr id="20" name="Text 18"/>
          <p:cNvSpPr/>
          <p:nvPr/>
        </p:nvSpPr>
        <p:spPr>
          <a:xfrm>
            <a:off x="877824" y="4590288"/>
            <a:ext cx="2926080" cy="475488"/>
          </a:xfrm>
          <a:prstGeom prst="rect">
            <a:avLst/>
          </a:prstGeom>
          <a:noFill/>
          <a:ln/>
        </p:spPr>
        <p:txBody>
          <a:bodyPr wrap="square" lIns="0" tIns="0" rIns="0" bIns="0" rtlCol="0" anchor="ctr"/>
          <a:lstStyle/>
          <a:p>
            <a:pPr indent="0" marL="0">
              <a:buNone/>
            </a:pPr>
            <a:r>
              <a:rPr lang="en-US" sz="1200" dirty="0">
                <a:solidFill>
                  <a:srgbClr val="101418"/>
                </a:solidFill>
                <a:latin typeface="Calibri" pitchFamily="34" charset="0"/>
                <a:ea typeface="Calibri" pitchFamily="34" charset="-122"/>
                <a:cs typeface="Calibri" pitchFamily="34" charset="-120"/>
              </a:rPr>
              <a:t>Agent</a:t>
            </a:r>
            <a:endParaRPr lang="en-US" sz="1200" dirty="0"/>
          </a:p>
        </p:txBody>
      </p:sp>
      <p:sp>
        <p:nvSpPr>
          <p:cNvPr id="21" name="Text 19"/>
          <p:cNvSpPr/>
          <p:nvPr/>
        </p:nvSpPr>
        <p:spPr>
          <a:xfrm>
            <a:off x="3931920" y="459028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$2.35/kg</a:t>
            </a:r>
            <a:endParaRPr lang="en-US" sz="1250" dirty="0"/>
          </a:p>
        </p:txBody>
      </p:sp>
      <p:sp>
        <p:nvSpPr>
          <p:cNvPr id="22" name="Shape 20"/>
          <p:cNvSpPr/>
          <p:nvPr/>
        </p:nvSpPr>
        <p:spPr>
          <a:xfrm>
            <a:off x="658368" y="5138928"/>
            <a:ext cx="5029200" cy="475488"/>
          </a:xfrm>
          <a:prstGeom prst="roundRect">
            <a:avLst>
              <a:gd name="adj" fmla="val 11538"/>
            </a:avLst>
          </a:prstGeom>
          <a:solidFill>
            <a:srgbClr val="E9F1EF"/>
          </a:solidFill>
          <a:ln w="12700">
            <a:solidFill>
              <a:srgbClr val="B2CCC5"/>
            </a:solidFill>
            <a:prstDash val="solid"/>
          </a:ln>
        </p:spPr>
      </p:sp>
      <p:sp>
        <p:nvSpPr>
          <p:cNvPr id="23" name="Text 21"/>
          <p:cNvSpPr/>
          <p:nvPr/>
        </p:nvSpPr>
        <p:spPr>
          <a:xfrm>
            <a:off x="877824" y="5138928"/>
            <a:ext cx="2926080" cy="475488"/>
          </a:xfrm>
          <a:prstGeom prst="rect">
            <a:avLst/>
          </a:prstGeom>
          <a:noFill/>
          <a:ln/>
        </p:spPr>
        <p:txBody>
          <a:bodyPr wrap="square" lIns="0" tIns="0" rIns="0" bIns="0" rtlCol="0" anchor="ctr"/>
          <a:lstStyle/>
          <a:p>
            <a:pPr indent="0" marL="0">
              <a:buNone/>
            </a:pPr>
            <a:r>
              <a:rPr lang="en-US" sz="1200" b="1" dirty="0">
                <a:solidFill>
                  <a:srgbClr val="101418"/>
                </a:solidFill>
                <a:latin typeface="Calibri" pitchFamily="34" charset="0"/>
                <a:ea typeface="Calibri" pitchFamily="34" charset="-122"/>
                <a:cs typeface="Calibri" pitchFamily="34" charset="-120"/>
              </a:rPr>
              <a:t>Agreed</a:t>
            </a:r>
            <a:endParaRPr lang="en-US" sz="1200" dirty="0"/>
          </a:p>
        </p:txBody>
      </p:sp>
      <p:sp>
        <p:nvSpPr>
          <p:cNvPr id="24" name="Text 22"/>
          <p:cNvSpPr/>
          <p:nvPr/>
        </p:nvSpPr>
        <p:spPr>
          <a:xfrm>
            <a:off x="3931920" y="5138928"/>
            <a:ext cx="1554480" cy="475488"/>
          </a:xfrm>
          <a:prstGeom prst="rect">
            <a:avLst/>
          </a:prstGeom>
          <a:noFill/>
          <a:ln/>
        </p:spPr>
        <p:txBody>
          <a:bodyPr wrap="square" lIns="0" tIns="0" rIns="0" bIns="0" rtlCol="0" anchor="ctr"/>
          <a:lstStyle/>
          <a:p>
            <a:pPr algn="r" indent="0" marL="0">
              <a:buNone/>
            </a:pPr>
            <a:r>
              <a:rPr lang="en-US" sz="1250" b="1" dirty="0">
                <a:solidFill>
                  <a:srgbClr val="0B5F52"/>
                </a:solidFill>
                <a:latin typeface="Calibri" pitchFamily="34" charset="0"/>
                <a:ea typeface="Calibri" pitchFamily="34" charset="-122"/>
                <a:cs typeface="Calibri" pitchFamily="34" charset="-120"/>
              </a:rPr>
              <a:t>$2.35/kg</a:t>
            </a:r>
            <a:endParaRPr lang="en-US" sz="1250" dirty="0"/>
          </a:p>
        </p:txBody>
      </p:sp>
      <p:sp>
        <p:nvSpPr>
          <p:cNvPr id="25" name="Shape 23"/>
          <p:cNvSpPr/>
          <p:nvPr/>
        </p:nvSpPr>
        <p:spPr>
          <a:xfrm>
            <a:off x="6035040" y="1847088"/>
            <a:ext cx="5504688" cy="2377440"/>
          </a:xfrm>
          <a:prstGeom prst="roundRect">
            <a:avLst>
              <a:gd name="adj" fmla="val 2692"/>
            </a:avLst>
          </a:prstGeom>
          <a:solidFill>
            <a:srgbClr val="12161A"/>
          </a:solidFill>
          <a:ln w="12700">
            <a:solidFill>
              <a:srgbClr val="12161A"/>
            </a:solidFill>
            <a:prstDash val="solid"/>
          </a:ln>
        </p:spPr>
      </p:sp>
      <p:sp>
        <p:nvSpPr>
          <p:cNvPr id="26" name="Text 24"/>
          <p:cNvSpPr/>
          <p:nvPr/>
        </p:nvSpPr>
        <p:spPr>
          <a:xfrm>
            <a:off x="6327648" y="2048256"/>
            <a:ext cx="4937760" cy="310896"/>
          </a:xfrm>
          <a:prstGeom prst="rect">
            <a:avLst/>
          </a:prstGeom>
          <a:noFill/>
          <a:ln/>
        </p:spPr>
        <p:txBody>
          <a:bodyPr wrap="square" lIns="0" tIns="0" rIns="0" bIns="0" rtlCol="0" anchor="ctr"/>
          <a:lstStyle/>
          <a:p>
            <a:pPr indent="0" marL="0">
              <a:buNone/>
            </a:pPr>
            <a:r>
              <a:rPr lang="en-US" sz="1150" b="1" spc="140" kern="0" dirty="0">
                <a:solidFill>
                  <a:srgbClr val="3FBFA3"/>
                </a:solidFill>
                <a:latin typeface="Calibri" pitchFamily="34" charset="0"/>
                <a:ea typeface="Calibri" pitchFamily="34" charset="-122"/>
                <a:cs typeface="Calibri" pitchFamily="34" charset="-120"/>
              </a:rPr>
              <a:t>The ceiling the agent works under</a:t>
            </a:r>
            <a:endParaRPr lang="en-US" sz="1150" dirty="0"/>
          </a:p>
        </p:txBody>
      </p:sp>
      <p:sp>
        <p:nvSpPr>
          <p:cNvPr id="27" name="Text 25"/>
          <p:cNvSpPr/>
          <p:nvPr/>
        </p:nvSpPr>
        <p:spPr>
          <a:xfrm>
            <a:off x="6327648" y="2395728"/>
            <a:ext cx="493776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$2.40 / kg</a:t>
            </a:r>
            <a:endParaRPr lang="en-US" sz="3400" dirty="0"/>
          </a:p>
        </p:txBody>
      </p:sp>
      <p:sp>
        <p:nvSpPr>
          <p:cNvPr id="28" name="Text 26"/>
          <p:cNvSpPr/>
          <p:nvPr/>
        </p:nvSpPr>
        <p:spPr>
          <a:xfrm>
            <a:off x="6327648" y="3108960"/>
            <a:ext cx="4937760" cy="914400"/>
          </a:xfrm>
          <a:prstGeom prst="rect">
            <a:avLst/>
          </a:prstGeom>
          <a:noFill/>
          <a:ln/>
        </p:spPr>
        <p:txBody>
          <a:bodyPr wrap="square" lIns="0" tIns="0" rIns="0" bIns="0" rtlCol="0" anchor="t"/>
          <a:lstStyle/>
          <a:p>
            <a:pPr indent="0" marL="0">
              <a:buNone/>
            </a:pPr>
            <a:r>
              <a:rPr lang="en-US" sz="1200" dirty="0">
                <a:solidFill>
                  <a:srgbClr val="C3DCD5"/>
                </a:solidFill>
                <a:latin typeface="Calibri" pitchFamily="34" charset="0"/>
                <a:ea typeface="Calibri" pitchFamily="34" charset="-122"/>
                <a:cs typeface="Calibri" pitchFamily="34" charset="-120"/>
              </a:rPr>
              <a:t>Derived from the $1,200 budget over 500 kg, so the figure the agent bargains against and the figure the contract enforces are the same number.</a:t>
            </a:r>
            <a:endParaRPr lang="en-US" sz="1200" dirty="0"/>
          </a:p>
        </p:txBody>
      </p:sp>
      <p:sp>
        <p:nvSpPr>
          <p:cNvPr id="29" name="Shape 27"/>
          <p:cNvSpPr/>
          <p:nvPr/>
        </p:nvSpPr>
        <p:spPr>
          <a:xfrm>
            <a:off x="6035040" y="4407408"/>
            <a:ext cx="5504688" cy="1170432"/>
          </a:xfrm>
          <a:prstGeom prst="roundRect">
            <a:avLst>
              <a:gd name="adj" fmla="val 5469"/>
            </a:avLst>
          </a:prstGeom>
          <a:solidFill>
            <a:srgbClr val="FAF2E2"/>
          </a:solidFill>
          <a:ln w="12700">
            <a:solidFill>
              <a:srgbClr val="8A5A00"/>
            </a:solidFill>
            <a:prstDash val="solid"/>
          </a:ln>
        </p:spPr>
      </p:sp>
      <p:sp>
        <p:nvSpPr>
          <p:cNvPr id="30" name="Text 28"/>
          <p:cNvSpPr/>
          <p:nvPr/>
        </p:nvSpPr>
        <p:spPr>
          <a:xfrm>
            <a:off x="6327648" y="4553712"/>
            <a:ext cx="4937760" cy="292608"/>
          </a:xfrm>
          <a:prstGeom prst="rect">
            <a:avLst/>
          </a:prstGeom>
          <a:noFill/>
          <a:ln/>
        </p:spPr>
        <p:txBody>
          <a:bodyPr wrap="square" lIns="0" tIns="0" rIns="0" bIns="0" rtlCol="0" anchor="ctr"/>
          <a:lstStyle/>
          <a:p>
            <a:pPr indent="0" marL="0">
              <a:buNone/>
            </a:pPr>
            <a:r>
              <a:rPr lang="en-US" sz="1250" b="1" dirty="0">
                <a:solidFill>
                  <a:srgbClr val="101418"/>
                </a:solidFill>
                <a:latin typeface="Calibri" pitchFamily="34" charset="0"/>
                <a:ea typeface="Calibri" pitchFamily="34" charset="-122"/>
                <a:cs typeface="Calibri" pitchFamily="34" charset="-120"/>
              </a:rPr>
              <a:t>It walks away rather than overspend</a:t>
            </a:r>
            <a:endParaRPr lang="en-US" sz="1250" dirty="0"/>
          </a:p>
        </p:txBody>
      </p:sp>
      <p:sp>
        <p:nvSpPr>
          <p:cNvPr id="31" name="Text 29"/>
          <p:cNvSpPr/>
          <p:nvPr/>
        </p:nvSpPr>
        <p:spPr>
          <a:xfrm>
            <a:off x="6327648" y="4864608"/>
            <a:ext cx="4937760" cy="640080"/>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Two of three shortlisted suppliers ended without a deal in the worked run. A failed negotiation is a normal outcome and is recorded as one.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THE DECISION</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The agent summarises. The person decides.</a:t>
            </a:r>
            <a:endParaRPr lang="en-US" sz="3200" dirty="0"/>
          </a:p>
        </p:txBody>
      </p:sp>
      <p:sp>
        <p:nvSpPr>
          <p:cNvPr id="4" name="Shape 2"/>
          <p:cNvSpPr/>
          <p:nvPr/>
        </p:nvSpPr>
        <p:spPr>
          <a:xfrm>
            <a:off x="658368" y="1847088"/>
            <a:ext cx="5349240" cy="3703320"/>
          </a:xfrm>
          <a:prstGeom prst="roundRect">
            <a:avLst>
              <a:gd name="adj" fmla="val 1728"/>
            </a:avLst>
          </a:prstGeom>
          <a:solidFill>
            <a:srgbClr val="FFFFFF"/>
          </a:solidFill>
          <a:ln w="12700">
            <a:solidFill>
              <a:srgbClr val="D2CEC4"/>
            </a:solidFill>
            <a:prstDash val="solid"/>
          </a:ln>
        </p:spPr>
      </p:sp>
      <p:sp>
        <p:nvSpPr>
          <p:cNvPr id="5" name="Text 3"/>
          <p:cNvSpPr/>
          <p:nvPr/>
        </p:nvSpPr>
        <p:spPr>
          <a:xfrm>
            <a:off x="932688" y="2048256"/>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Before every irreversible step</a:t>
            </a:r>
            <a:endParaRPr lang="en-US" sz="1350" dirty="0"/>
          </a:p>
        </p:txBody>
      </p:sp>
      <p:sp>
        <p:nvSpPr>
          <p:cNvPr id="6" name="Text 4"/>
          <p:cNvSpPr/>
          <p:nvPr/>
        </p:nvSpPr>
        <p:spPr>
          <a:xfrm>
            <a:off x="932688" y="2487168"/>
            <a:ext cx="4800600" cy="256032"/>
          </a:xfrm>
          <a:prstGeom prst="rect">
            <a:avLst/>
          </a:prstGeom>
          <a:noFill/>
          <a:ln/>
        </p:spPr>
        <p:txBody>
          <a:bodyPr wrap="square" lIns="0" tIns="0" rIns="0" bIns="0" rtlCol="0" anchor="ctr"/>
          <a:lstStyle/>
          <a:p>
            <a:pPr indent="0" marL="0">
              <a:buNone/>
            </a:pPr>
            <a:r>
              <a:rPr lang="en-US" sz="1050" b="1" spc="100" kern="0" dirty="0">
                <a:solidFill>
                  <a:srgbClr val="0B5F52"/>
                </a:solidFill>
                <a:latin typeface="Calibri" pitchFamily="34" charset="0"/>
                <a:ea typeface="Calibri" pitchFamily="34" charset="-122"/>
                <a:cs typeface="Calibri" pitchFamily="34" charset="-120"/>
              </a:rPr>
              <a:t>What happened</a:t>
            </a:r>
            <a:endParaRPr lang="en-US" sz="1050" dirty="0"/>
          </a:p>
        </p:txBody>
      </p:sp>
      <p:sp>
        <p:nvSpPr>
          <p:cNvPr id="7" name="Text 5"/>
          <p:cNvSpPr/>
          <p:nvPr/>
        </p:nvSpPr>
        <p:spPr>
          <a:xfrm>
            <a:off x="932688" y="2724912"/>
            <a:ext cx="4800600" cy="384048"/>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7 listings screened, 2 excluded, 3 negotiated</a:t>
            </a:r>
            <a:endParaRPr lang="en-US" sz="1200" dirty="0"/>
          </a:p>
        </p:txBody>
      </p:sp>
      <p:sp>
        <p:nvSpPr>
          <p:cNvPr id="8" name="Text 6"/>
          <p:cNvSpPr/>
          <p:nvPr/>
        </p:nvSpPr>
        <p:spPr>
          <a:xfrm>
            <a:off x="932688" y="3236976"/>
            <a:ext cx="4800600" cy="256032"/>
          </a:xfrm>
          <a:prstGeom prst="rect">
            <a:avLst/>
          </a:prstGeom>
          <a:noFill/>
          <a:ln/>
        </p:spPr>
        <p:txBody>
          <a:bodyPr wrap="square" lIns="0" tIns="0" rIns="0" bIns="0" rtlCol="0" anchor="ctr"/>
          <a:lstStyle/>
          <a:p>
            <a:pPr indent="0" marL="0">
              <a:buNone/>
            </a:pPr>
            <a:r>
              <a:rPr lang="en-US" sz="1050" b="1" spc="100" kern="0" dirty="0">
                <a:solidFill>
                  <a:srgbClr val="0B5F52"/>
                </a:solidFill>
                <a:latin typeface="Calibri" pitchFamily="34" charset="0"/>
                <a:ea typeface="Calibri" pitchFamily="34" charset="-122"/>
                <a:cs typeface="Calibri" pitchFamily="34" charset="-120"/>
              </a:rPr>
              <a:t>What changes</a:t>
            </a:r>
            <a:endParaRPr lang="en-US" sz="1050" dirty="0"/>
          </a:p>
        </p:txBody>
      </p:sp>
      <p:sp>
        <p:nvSpPr>
          <p:cNvPr id="9" name="Text 7"/>
          <p:cNvSpPr/>
          <p:nvPr/>
        </p:nvSpPr>
        <p:spPr>
          <a:xfrm>
            <a:off x="932688" y="3474720"/>
            <a:ext cx="4800600" cy="384048"/>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$1,175 leaves your balance into escrow</a:t>
            </a:r>
            <a:endParaRPr lang="en-US" sz="1200" dirty="0"/>
          </a:p>
        </p:txBody>
      </p:sp>
      <p:sp>
        <p:nvSpPr>
          <p:cNvPr id="10" name="Text 8"/>
          <p:cNvSpPr/>
          <p:nvPr/>
        </p:nvSpPr>
        <p:spPr>
          <a:xfrm>
            <a:off x="932688" y="3986784"/>
            <a:ext cx="4800600" cy="256032"/>
          </a:xfrm>
          <a:prstGeom prst="rect">
            <a:avLst/>
          </a:prstGeom>
          <a:noFill/>
          <a:ln/>
        </p:spPr>
        <p:txBody>
          <a:bodyPr wrap="square" lIns="0" tIns="0" rIns="0" bIns="0" rtlCol="0" anchor="ctr"/>
          <a:lstStyle/>
          <a:p>
            <a:pPr indent="0" marL="0">
              <a:buNone/>
            </a:pPr>
            <a:r>
              <a:rPr lang="en-US" sz="1050" b="1" spc="100" kern="0" dirty="0">
                <a:solidFill>
                  <a:srgbClr val="0B5F52"/>
                </a:solidFill>
                <a:latin typeface="Calibri" pitchFamily="34" charset="0"/>
                <a:ea typeface="Calibri" pitchFamily="34" charset="-122"/>
                <a:cs typeface="Calibri" pitchFamily="34" charset="-120"/>
              </a:rPr>
              <a:t>What deserves attention</a:t>
            </a:r>
            <a:endParaRPr lang="en-US" sz="1050" dirty="0"/>
          </a:p>
        </p:txBody>
      </p:sp>
      <p:sp>
        <p:nvSpPr>
          <p:cNvPr id="11" name="Text 9"/>
          <p:cNvSpPr/>
          <p:nvPr/>
        </p:nvSpPr>
        <p:spPr>
          <a:xfrm>
            <a:off x="932688" y="4224528"/>
            <a:ext cx="4800600" cy="384048"/>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 cheaper listing was excluded on your own constraint</a:t>
            </a:r>
            <a:endParaRPr lang="en-US" sz="1200" dirty="0"/>
          </a:p>
        </p:txBody>
      </p:sp>
      <p:sp>
        <p:nvSpPr>
          <p:cNvPr id="12" name="Text 10"/>
          <p:cNvSpPr/>
          <p:nvPr/>
        </p:nvSpPr>
        <p:spPr>
          <a:xfrm>
            <a:off x="932688" y="4736592"/>
            <a:ext cx="4800600" cy="256032"/>
          </a:xfrm>
          <a:prstGeom prst="rect">
            <a:avLst/>
          </a:prstGeom>
          <a:noFill/>
          <a:ln/>
        </p:spPr>
        <p:txBody>
          <a:bodyPr wrap="square" lIns="0" tIns="0" rIns="0" bIns="0" rtlCol="0" anchor="ctr"/>
          <a:lstStyle/>
          <a:p>
            <a:pPr indent="0" marL="0">
              <a:buNone/>
            </a:pPr>
            <a:r>
              <a:rPr lang="en-US" sz="1050" b="1" spc="100" kern="0" dirty="0">
                <a:solidFill>
                  <a:srgbClr val="0B5F52"/>
                </a:solidFill>
                <a:latin typeface="Calibri" pitchFamily="34" charset="0"/>
                <a:ea typeface="Calibri" pitchFamily="34" charset="-122"/>
                <a:cs typeface="Calibri" pitchFamily="34" charset="-120"/>
              </a:rPr>
              <a:t>Can it be undone</a:t>
            </a:r>
            <a:endParaRPr lang="en-US" sz="1050" dirty="0"/>
          </a:p>
        </p:txBody>
      </p:sp>
      <p:sp>
        <p:nvSpPr>
          <p:cNvPr id="13" name="Text 11"/>
          <p:cNvSpPr/>
          <p:nvPr/>
        </p:nvSpPr>
        <p:spPr>
          <a:xfrm>
            <a:off x="932688" y="4974336"/>
            <a:ext cx="4800600" cy="384048"/>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Recoverable after the delivery deadline</a:t>
            </a:r>
            <a:endParaRPr lang="en-US" sz="1200" dirty="0"/>
          </a:p>
        </p:txBody>
      </p:sp>
      <p:sp>
        <p:nvSpPr>
          <p:cNvPr id="14" name="Shape 12"/>
          <p:cNvSpPr/>
          <p:nvPr/>
        </p:nvSpPr>
        <p:spPr>
          <a:xfrm>
            <a:off x="6190488" y="1847088"/>
            <a:ext cx="5349240" cy="3703320"/>
          </a:xfrm>
          <a:prstGeom prst="roundRect">
            <a:avLst>
              <a:gd name="adj" fmla="val 1728"/>
            </a:avLst>
          </a:prstGeom>
          <a:solidFill>
            <a:srgbClr val="FAF2E2"/>
          </a:solidFill>
          <a:ln w="12700">
            <a:solidFill>
              <a:srgbClr val="8A5A00"/>
            </a:solidFill>
            <a:prstDash val="solid"/>
          </a:ln>
        </p:spPr>
      </p:sp>
      <p:sp>
        <p:nvSpPr>
          <p:cNvPr id="15" name="Text 13"/>
          <p:cNvSpPr/>
          <p:nvPr/>
        </p:nvSpPr>
        <p:spPr>
          <a:xfrm>
            <a:off x="6464808" y="2048256"/>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The run stops here</a:t>
            </a:r>
            <a:endParaRPr lang="en-US" sz="1350" dirty="0"/>
          </a:p>
        </p:txBody>
      </p:sp>
      <p:sp>
        <p:nvSpPr>
          <p:cNvPr id="16" name="Text 14"/>
          <p:cNvSpPr/>
          <p:nvPr/>
        </p:nvSpPr>
        <p:spPr>
          <a:xfrm>
            <a:off x="6464808" y="2487168"/>
            <a:ext cx="480060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Every step above the approval card dims</a:t>
            </a:r>
            <a:endParaRPr lang="en-US" sz="1250" dirty="0"/>
          </a:p>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The page will not scroll past the decision</a:t>
            </a:r>
            <a:endParaRPr lang="en-US" sz="1250" dirty="0"/>
          </a:p>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Nothing auto-scrolls again after this point</a:t>
            </a:r>
            <a:endParaRPr lang="en-US" sz="1250" dirty="0"/>
          </a:p>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Approval needs an acknowledgement and a typed name</a:t>
            </a:r>
            <a:endParaRPr lang="en-US" sz="1250" dirty="0"/>
          </a:p>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Only then can funds enter escrow</a:t>
            </a:r>
            <a:endParaRPr lang="en-US" sz="1250" dirty="0"/>
          </a:p>
        </p:txBody>
      </p:sp>
      <p:sp>
        <p:nvSpPr>
          <p:cNvPr id="17" name="Text 15"/>
          <p:cNvSpPr/>
          <p:nvPr/>
        </p:nvSpPr>
        <p:spPr>
          <a:xfrm>
            <a:off x="6464808" y="4937760"/>
            <a:ext cx="4800600" cy="365760"/>
          </a:xfrm>
          <a:prstGeom prst="rect">
            <a:avLst/>
          </a:prstGeom>
          <a:noFill/>
          <a:ln/>
        </p:spPr>
        <p:txBody>
          <a:bodyPr wrap="square" lIns="0" tIns="0" rIns="0" bIns="0" rtlCol="0" anchor="ctr"/>
          <a:lstStyle/>
          <a:p>
            <a:pPr indent="0" marL="0">
              <a:buNone/>
            </a:pPr>
            <a:r>
              <a:rPr lang="en-US" sz="1400" b="1" i="1" dirty="0">
                <a:solidFill>
                  <a:srgbClr val="8A5A00"/>
                </a:solidFill>
                <a:latin typeface="Cambria" pitchFamily="34" charset="0"/>
                <a:ea typeface="Cambria" pitchFamily="34" charset="-122"/>
                <a:cs typeface="Cambria" pitchFamily="34" charset="-120"/>
              </a:rPr>
              <a:t>From here the person is choosing, not watching.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EXECUTION LAYER</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It is allowed to try. The contract is what stops it.</a:t>
            </a:r>
            <a:endParaRPr lang="en-US" sz="3200" dirty="0"/>
          </a:p>
        </p:txBody>
      </p:sp>
      <p:sp>
        <p:nvSpPr>
          <p:cNvPr id="4" name="Shape 2"/>
          <p:cNvSpPr/>
          <p:nvPr/>
        </p:nvSpPr>
        <p:spPr>
          <a:xfrm>
            <a:off x="658368" y="1874520"/>
            <a:ext cx="5349240" cy="2697480"/>
          </a:xfrm>
          <a:prstGeom prst="roundRect">
            <a:avLst>
              <a:gd name="adj" fmla="val 2373"/>
            </a:avLst>
          </a:prstGeom>
          <a:solidFill>
            <a:srgbClr val="FFFFFF"/>
          </a:solidFill>
          <a:ln w="12700">
            <a:solidFill>
              <a:srgbClr val="D2CEC4"/>
            </a:solidFill>
            <a:prstDash val="solid"/>
          </a:ln>
        </p:spPr>
      </p:sp>
      <p:sp>
        <p:nvSpPr>
          <p:cNvPr id="5" name="Shape 3"/>
          <p:cNvSpPr/>
          <p:nvPr/>
        </p:nvSpPr>
        <p:spPr>
          <a:xfrm>
            <a:off x="932688" y="2121408"/>
            <a:ext cx="365760" cy="365760"/>
          </a:xfrm>
          <a:prstGeom prst="ellipse">
            <a:avLst/>
          </a:prstGeom>
          <a:solidFill>
            <a:srgbClr val="8A5A00"/>
          </a:solidFill>
          <a:ln w="12700">
            <a:solidFill>
              <a:srgbClr val="8A5A00"/>
            </a:solidFill>
            <a:prstDash val="solid"/>
          </a:ln>
        </p:spPr>
      </p:sp>
      <p:sp>
        <p:nvSpPr>
          <p:cNvPr id="6" name="Text 4"/>
          <p:cNvSpPr/>
          <p:nvPr/>
        </p:nvSpPr>
        <p:spPr>
          <a:xfrm>
            <a:off x="932688" y="212140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1463040" y="2121408"/>
            <a:ext cx="4297680" cy="365760"/>
          </a:xfrm>
          <a:prstGeom prst="rect">
            <a:avLst/>
          </a:prstGeom>
          <a:noFill/>
          <a:ln/>
        </p:spPr>
        <p:txBody>
          <a:bodyPr wrap="square" lIns="0" tIns="0" rIns="0" bIns="0" rtlCol="0" anchor="ctr"/>
          <a:lstStyle/>
          <a:p>
            <a:pPr indent="0" marL="0">
              <a:buNone/>
            </a:pPr>
            <a:r>
              <a:rPr lang="en-US" sz="1400" b="1" dirty="0">
                <a:solidFill>
                  <a:srgbClr val="101418"/>
                </a:solidFill>
                <a:latin typeface="Calibri" pitchFamily="34" charset="0"/>
                <a:ea typeface="Calibri" pitchFamily="34" charset="-122"/>
                <a:cs typeface="Calibri" pitchFamily="34" charset="-120"/>
              </a:rPr>
              <a:t>Force an over-limit purchase</a:t>
            </a:r>
            <a:endParaRPr lang="en-US" sz="1400" dirty="0"/>
          </a:p>
        </p:txBody>
      </p:sp>
      <p:sp>
        <p:nvSpPr>
          <p:cNvPr id="8" name="Text 6"/>
          <p:cNvSpPr/>
          <p:nvPr/>
        </p:nvSpPr>
        <p:spPr>
          <a:xfrm>
            <a:off x="932688" y="2615184"/>
            <a:ext cx="4800600" cy="4572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The agent is instructed to commit $1,250 against a $1,200 ceiling.</a:t>
            </a:r>
            <a:endParaRPr lang="en-US" sz="1200" dirty="0"/>
          </a:p>
        </p:txBody>
      </p:sp>
      <p:sp>
        <p:nvSpPr>
          <p:cNvPr id="9" name="Shape 7"/>
          <p:cNvSpPr/>
          <p:nvPr/>
        </p:nvSpPr>
        <p:spPr>
          <a:xfrm>
            <a:off x="932688" y="3145536"/>
            <a:ext cx="4800600" cy="548640"/>
          </a:xfrm>
          <a:prstGeom prst="roundRect">
            <a:avLst>
              <a:gd name="adj" fmla="val 10000"/>
            </a:avLst>
          </a:prstGeom>
          <a:solidFill>
            <a:srgbClr val="FAF2E2"/>
          </a:solidFill>
          <a:ln w="12700">
            <a:solidFill>
              <a:srgbClr val="8A5A00"/>
            </a:solidFill>
            <a:prstDash val="solid"/>
          </a:ln>
        </p:spPr>
      </p:sp>
      <p:sp>
        <p:nvSpPr>
          <p:cNvPr id="10" name="Text 8"/>
          <p:cNvSpPr/>
          <p:nvPr/>
        </p:nvSpPr>
        <p:spPr>
          <a:xfrm>
            <a:off x="1060704" y="3145536"/>
            <a:ext cx="4572000" cy="548640"/>
          </a:xfrm>
          <a:prstGeom prst="rect">
            <a:avLst/>
          </a:prstGeom>
          <a:noFill/>
          <a:ln/>
        </p:spPr>
        <p:txBody>
          <a:bodyPr wrap="square" lIns="0" tIns="0" rIns="0" bIns="0" rtlCol="0" anchor="ctr"/>
          <a:lstStyle/>
          <a:p>
            <a:pPr indent="0" marL="0">
              <a:buNone/>
            </a:pPr>
            <a:r>
              <a:rPr lang="en-US" sz="1100" b="1" dirty="0">
                <a:solidFill>
                  <a:srgbClr val="8A5A00"/>
                </a:solidFill>
                <a:latin typeface="Courier New" pitchFamily="34" charset="0"/>
                <a:ea typeface="Courier New" pitchFamily="34" charset="-122"/>
                <a:cs typeface="Courier New" pitchFamily="34" charset="-120"/>
              </a:rPr>
              <a:t>reverted   ExceedsPerDealCap(1250, 1200)</a:t>
            </a:r>
            <a:endParaRPr lang="en-US" sz="1100" dirty="0"/>
          </a:p>
        </p:txBody>
      </p:sp>
      <p:sp>
        <p:nvSpPr>
          <p:cNvPr id="11" name="Text 9"/>
          <p:cNvSpPr/>
          <p:nvPr/>
        </p:nvSpPr>
        <p:spPr>
          <a:xfrm>
            <a:off x="932688" y="3877056"/>
            <a:ext cx="4800600" cy="54864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The transaction is mined and fails. No partial spend, no override path.</a:t>
            </a:r>
            <a:endParaRPr lang="en-US" sz="1200" dirty="0"/>
          </a:p>
        </p:txBody>
      </p:sp>
      <p:sp>
        <p:nvSpPr>
          <p:cNvPr id="12" name="Shape 10"/>
          <p:cNvSpPr/>
          <p:nvPr/>
        </p:nvSpPr>
        <p:spPr>
          <a:xfrm>
            <a:off x="6190488" y="1874520"/>
            <a:ext cx="5349240" cy="2697480"/>
          </a:xfrm>
          <a:prstGeom prst="roundRect">
            <a:avLst>
              <a:gd name="adj" fmla="val 2373"/>
            </a:avLst>
          </a:prstGeom>
          <a:solidFill>
            <a:srgbClr val="FFFFFF"/>
          </a:solidFill>
          <a:ln w="12700">
            <a:solidFill>
              <a:srgbClr val="D2CEC4"/>
            </a:solidFill>
            <a:prstDash val="solid"/>
          </a:ln>
        </p:spPr>
      </p:sp>
      <p:sp>
        <p:nvSpPr>
          <p:cNvPr id="13" name="Shape 11"/>
          <p:cNvSpPr/>
          <p:nvPr/>
        </p:nvSpPr>
        <p:spPr>
          <a:xfrm>
            <a:off x="6464808" y="2121408"/>
            <a:ext cx="365760" cy="365760"/>
          </a:xfrm>
          <a:prstGeom prst="ellipse">
            <a:avLst/>
          </a:prstGeom>
          <a:solidFill>
            <a:srgbClr val="9E1F33"/>
          </a:solidFill>
          <a:ln w="12700">
            <a:solidFill>
              <a:srgbClr val="9E1F33"/>
            </a:solidFill>
            <a:prstDash val="solid"/>
          </a:ln>
        </p:spPr>
      </p:sp>
      <p:sp>
        <p:nvSpPr>
          <p:cNvPr id="14" name="Text 12"/>
          <p:cNvSpPr/>
          <p:nvPr/>
        </p:nvSpPr>
        <p:spPr>
          <a:xfrm>
            <a:off x="6464808" y="212140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6995160" y="2121408"/>
            <a:ext cx="4297680" cy="365760"/>
          </a:xfrm>
          <a:prstGeom prst="rect">
            <a:avLst/>
          </a:prstGeom>
          <a:noFill/>
          <a:ln/>
        </p:spPr>
        <p:txBody>
          <a:bodyPr wrap="square" lIns="0" tIns="0" rIns="0" bIns="0" rtlCol="0" anchor="ctr"/>
          <a:lstStyle/>
          <a:p>
            <a:pPr indent="0" marL="0">
              <a:buNone/>
            </a:pPr>
            <a:r>
              <a:rPr lang="en-US" sz="1400" b="1" dirty="0">
                <a:solidFill>
                  <a:srgbClr val="101418"/>
                </a:solidFill>
                <a:latin typeface="Calibri" pitchFamily="34" charset="0"/>
                <a:ea typeface="Calibri" pitchFamily="34" charset="-122"/>
                <a:cs typeface="Calibri" pitchFamily="34" charset="-120"/>
              </a:rPr>
              <a:t>Let the agent rewrite its own policy</a:t>
            </a:r>
            <a:endParaRPr lang="en-US" sz="1400" dirty="0"/>
          </a:p>
        </p:txBody>
      </p:sp>
      <p:sp>
        <p:nvSpPr>
          <p:cNvPr id="16" name="Text 14"/>
          <p:cNvSpPr/>
          <p:nvPr/>
        </p:nvSpPr>
        <p:spPr>
          <a:xfrm>
            <a:off x="6464808" y="2615184"/>
            <a:ext cx="4800600" cy="4572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The agent successfully sets its own cap to $1,000,000, then tries to spend.</a:t>
            </a:r>
            <a:endParaRPr lang="en-US" sz="1200" dirty="0"/>
          </a:p>
        </p:txBody>
      </p:sp>
      <p:sp>
        <p:nvSpPr>
          <p:cNvPr id="17" name="Shape 15"/>
          <p:cNvSpPr/>
          <p:nvPr/>
        </p:nvSpPr>
        <p:spPr>
          <a:xfrm>
            <a:off x="6464808" y="3145536"/>
            <a:ext cx="4800600" cy="548640"/>
          </a:xfrm>
          <a:prstGeom prst="roundRect">
            <a:avLst>
              <a:gd name="adj" fmla="val 10000"/>
            </a:avLst>
          </a:prstGeom>
          <a:solidFill>
            <a:srgbClr val="F1EFEA"/>
          </a:solidFill>
          <a:ln w="12700">
            <a:solidFill>
              <a:srgbClr val="D2CEC4"/>
            </a:solidFill>
            <a:prstDash val="solid"/>
          </a:ln>
        </p:spPr>
      </p:sp>
      <p:sp>
        <p:nvSpPr>
          <p:cNvPr id="18" name="Text 16"/>
          <p:cNvSpPr/>
          <p:nvPr/>
        </p:nvSpPr>
        <p:spPr>
          <a:xfrm>
            <a:off x="6592824" y="3145536"/>
            <a:ext cx="4572000" cy="548640"/>
          </a:xfrm>
          <a:prstGeom prst="rect">
            <a:avLst/>
          </a:prstGeom>
          <a:noFill/>
          <a:ln/>
        </p:spPr>
        <p:txBody>
          <a:bodyPr wrap="square" lIns="0" tIns="0" rIns="0" bIns="0" rtlCol="0" anchor="ctr"/>
          <a:lstStyle/>
          <a:p>
            <a:pPr indent="0" marL="0">
              <a:buNone/>
            </a:pPr>
            <a:r>
              <a:rPr lang="en-US" sz="1100" b="1" dirty="0">
                <a:solidFill>
                  <a:srgbClr val="0B5F52"/>
                </a:solidFill>
                <a:latin typeface="Courier New" pitchFamily="34" charset="0"/>
                <a:ea typeface="Courier New" pitchFamily="34" charset="-122"/>
                <a:cs typeface="Courier New" pitchFamily="34" charset="-120"/>
              </a:rPr>
              <a:t>agent cap 1,000,000     buyer ceiling 1,200</a:t>
            </a:r>
            <a:endParaRPr lang="en-US" sz="1100" dirty="0"/>
          </a:p>
        </p:txBody>
      </p:sp>
      <p:sp>
        <p:nvSpPr>
          <p:cNvPr id="19" name="Text 17"/>
          <p:cNvSpPr/>
          <p:nvPr/>
        </p:nvSpPr>
        <p:spPr>
          <a:xfrm>
            <a:off x="6464808" y="3877056"/>
            <a:ext cx="4800600" cy="54864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Its own policy moves. The buyer ceiling does not, and the spend is still rejected.</a:t>
            </a:r>
            <a:endParaRPr lang="en-US" sz="1200" dirty="0"/>
          </a:p>
        </p:txBody>
      </p:sp>
      <p:sp>
        <p:nvSpPr>
          <p:cNvPr id="20" name="Shape 18"/>
          <p:cNvSpPr/>
          <p:nvPr/>
        </p:nvSpPr>
        <p:spPr>
          <a:xfrm>
            <a:off x="658368" y="4791456"/>
            <a:ext cx="10881360" cy="868680"/>
          </a:xfrm>
          <a:prstGeom prst="roundRect">
            <a:avLst>
              <a:gd name="adj" fmla="val 7368"/>
            </a:avLst>
          </a:prstGeom>
          <a:solidFill>
            <a:srgbClr val="F1EFEA"/>
          </a:solidFill>
          <a:ln w="12700">
            <a:solidFill>
              <a:srgbClr val="E4E1D9"/>
            </a:solidFill>
            <a:prstDash val="solid"/>
          </a:ln>
        </p:spPr>
      </p:sp>
      <p:sp>
        <p:nvSpPr>
          <p:cNvPr id="21" name="Text 19"/>
          <p:cNvSpPr/>
          <p:nvPr/>
        </p:nvSpPr>
        <p:spPr>
          <a:xfrm>
            <a:off x="960120" y="4791456"/>
            <a:ext cx="10332720" cy="868680"/>
          </a:xfrm>
          <a:prstGeom prst="rect">
            <a:avLst/>
          </a:prstGeom>
          <a:noFill/>
          <a:ln/>
        </p:spPr>
        <p:txBody>
          <a:bodyPr wrap="square" lIns="0" tIns="0" rIns="0" bIns="0" rtlCol="0" anchor="ctr"/>
          <a:lstStyle/>
          <a:p>
            <a:pPr indent="0" marL="0">
              <a:buNone/>
            </a:pPr>
            <a:r>
              <a:rPr lang="en-US" sz="1300" b="1" dirty="0">
                <a:solidFill>
                  <a:srgbClr val="0B5F52"/>
                </a:solidFill>
                <a:latin typeface="Calibri" pitchFamily="34" charset="0"/>
                <a:ea typeface="Calibri" pitchFamily="34" charset="-122"/>
                <a:cs typeface="Calibri" pitchFamily="34" charset="-120"/>
              </a:rPr>
              <a:t>Both buttons are in the demo. Each sends a real transaction and shows the real revert.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PRODUCT EXPERIENCE</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A run you can audit, in a product that explains itself</a:t>
            </a:r>
            <a:endParaRPr lang="en-US" sz="3200" dirty="0"/>
          </a:p>
        </p:txBody>
      </p:sp>
      <p:sp>
        <p:nvSpPr>
          <p:cNvPr id="4" name="Shape 2"/>
          <p:cNvSpPr/>
          <p:nvPr/>
        </p:nvSpPr>
        <p:spPr>
          <a:xfrm>
            <a:off x="685800" y="1856232"/>
            <a:ext cx="329184" cy="329184"/>
          </a:xfrm>
          <a:prstGeom prst="ellipse">
            <a:avLst/>
          </a:prstGeom>
          <a:solidFill>
            <a:srgbClr val="0B5F52"/>
          </a:solidFill>
          <a:ln w="12700">
            <a:solidFill>
              <a:srgbClr val="0B5F52"/>
            </a:solidFill>
            <a:prstDash val="solid"/>
          </a:ln>
        </p:spPr>
      </p:sp>
      <p:sp>
        <p:nvSpPr>
          <p:cNvPr id="5" name="Text 3"/>
          <p:cNvSpPr/>
          <p:nvPr/>
        </p:nvSpPr>
        <p:spPr>
          <a:xfrm>
            <a:off x="685800" y="185623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1188720" y="182880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The live island</a:t>
            </a:r>
            <a:endParaRPr lang="en-US" sz="1400" dirty="0"/>
          </a:p>
        </p:txBody>
      </p:sp>
      <p:sp>
        <p:nvSpPr>
          <p:cNvPr id="7" name="Text 5"/>
          <p:cNvSpPr/>
          <p:nvPr/>
        </p:nvSpPr>
        <p:spPr>
          <a:xfrm>
            <a:off x="4343400" y="181051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Names the current phase, counts it 3 of 5, runs a clock and fills a bar. Opens on a change, settles back while work continues.</a:t>
            </a:r>
            <a:endParaRPr lang="en-US" sz="1200" dirty="0"/>
          </a:p>
        </p:txBody>
      </p:sp>
      <p:sp>
        <p:nvSpPr>
          <p:cNvPr id="8" name="Shape 6"/>
          <p:cNvSpPr/>
          <p:nvPr/>
        </p:nvSpPr>
        <p:spPr>
          <a:xfrm>
            <a:off x="685800" y="2679192"/>
            <a:ext cx="329184" cy="329184"/>
          </a:xfrm>
          <a:prstGeom prst="ellipse">
            <a:avLst/>
          </a:prstGeom>
          <a:solidFill>
            <a:srgbClr val="0B5F52"/>
          </a:solidFill>
          <a:ln w="12700">
            <a:solidFill>
              <a:srgbClr val="0B5F52"/>
            </a:solidFill>
            <a:prstDash val="solid"/>
          </a:ln>
        </p:spPr>
      </p:sp>
      <p:sp>
        <p:nvSpPr>
          <p:cNvPr id="9" name="Text 7"/>
          <p:cNvSpPr/>
          <p:nvPr/>
        </p:nvSpPr>
        <p:spPr>
          <a:xfrm>
            <a:off x="685800" y="267919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1188720" y="265176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Rationale</a:t>
            </a:r>
            <a:endParaRPr lang="en-US" sz="1400" dirty="0"/>
          </a:p>
        </p:txBody>
      </p:sp>
      <p:sp>
        <p:nvSpPr>
          <p:cNvPr id="11" name="Text 9"/>
          <p:cNvSpPr/>
          <p:nvPr/>
        </p:nvSpPr>
        <p:spPr>
          <a:xfrm>
            <a:off x="4343400" y="263347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Answers questions about the run by text or voice, from a frozen snapshot. It cannot sign, approve or move funds.</a:t>
            </a:r>
            <a:endParaRPr lang="en-US" sz="1200" dirty="0"/>
          </a:p>
        </p:txBody>
      </p:sp>
      <p:sp>
        <p:nvSpPr>
          <p:cNvPr id="12" name="Shape 10"/>
          <p:cNvSpPr/>
          <p:nvPr/>
        </p:nvSpPr>
        <p:spPr>
          <a:xfrm>
            <a:off x="685800" y="3502152"/>
            <a:ext cx="329184" cy="329184"/>
          </a:xfrm>
          <a:prstGeom prst="ellipse">
            <a:avLst/>
          </a:prstGeom>
          <a:solidFill>
            <a:srgbClr val="0B5F52"/>
          </a:solidFill>
          <a:ln w="12700">
            <a:solidFill>
              <a:srgbClr val="0B5F52"/>
            </a:solidFill>
            <a:prstDash val="solid"/>
          </a:ln>
        </p:spPr>
      </p:sp>
      <p:sp>
        <p:nvSpPr>
          <p:cNvPr id="13" name="Text 11"/>
          <p:cNvSpPr/>
          <p:nvPr/>
        </p:nvSpPr>
        <p:spPr>
          <a:xfrm>
            <a:off x="685800" y="350215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1188720" y="347472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Decision briefs</a:t>
            </a:r>
            <a:endParaRPr lang="en-US" sz="1400" dirty="0"/>
          </a:p>
        </p:txBody>
      </p:sp>
      <p:sp>
        <p:nvSpPr>
          <p:cNvPr id="15" name="Text 13"/>
          <p:cNvSpPr/>
          <p:nvPr/>
        </p:nvSpPr>
        <p:spPr>
          <a:xfrm>
            <a:off x="4343400" y="345643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 written brief before publish, fund, deliver and release. Conditional, never boilerplate.</a:t>
            </a:r>
            <a:endParaRPr lang="en-US" sz="1200" dirty="0"/>
          </a:p>
        </p:txBody>
      </p:sp>
      <p:sp>
        <p:nvSpPr>
          <p:cNvPr id="16" name="Shape 14"/>
          <p:cNvSpPr/>
          <p:nvPr/>
        </p:nvSpPr>
        <p:spPr>
          <a:xfrm>
            <a:off x="685800" y="4325112"/>
            <a:ext cx="329184" cy="329184"/>
          </a:xfrm>
          <a:prstGeom prst="ellipse">
            <a:avLst/>
          </a:prstGeom>
          <a:solidFill>
            <a:srgbClr val="0B5F52"/>
          </a:solidFill>
          <a:ln w="12700">
            <a:solidFill>
              <a:srgbClr val="0B5F52"/>
            </a:solidFill>
            <a:prstDash val="solid"/>
          </a:ln>
        </p:spPr>
      </p:sp>
      <p:sp>
        <p:nvSpPr>
          <p:cNvPr id="17" name="Text 15"/>
          <p:cNvSpPr/>
          <p:nvPr/>
        </p:nvSpPr>
        <p:spPr>
          <a:xfrm>
            <a:off x="685800" y="432511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1188720" y="429768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Themes and access</a:t>
            </a:r>
            <a:endParaRPr lang="en-US" sz="1400" dirty="0"/>
          </a:p>
        </p:txBody>
      </p:sp>
      <p:sp>
        <p:nvSpPr>
          <p:cNvPr id="19" name="Text 17"/>
          <p:cNvSpPr/>
          <p:nvPr/>
        </p:nvSpPr>
        <p:spPr>
          <a:xfrm>
            <a:off x="4343400" y="427939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Light, dark and system. Every text and background pair measured at or above the WCAG AA ratio in both.</a:t>
            </a:r>
            <a:endParaRPr lang="en-US" sz="1200" dirty="0"/>
          </a:p>
        </p:txBody>
      </p:sp>
      <p:sp>
        <p:nvSpPr>
          <p:cNvPr id="20" name="Shape 18"/>
          <p:cNvSpPr/>
          <p:nvPr/>
        </p:nvSpPr>
        <p:spPr>
          <a:xfrm>
            <a:off x="685800" y="5148072"/>
            <a:ext cx="329184" cy="329184"/>
          </a:xfrm>
          <a:prstGeom prst="ellipse">
            <a:avLst/>
          </a:prstGeom>
          <a:solidFill>
            <a:srgbClr val="0B5F52"/>
          </a:solidFill>
          <a:ln w="12700">
            <a:solidFill>
              <a:srgbClr val="0B5F52"/>
            </a:solidFill>
            <a:prstDash val="solid"/>
          </a:ln>
        </p:spPr>
      </p:sp>
      <p:sp>
        <p:nvSpPr>
          <p:cNvPr id="21" name="Text 19"/>
          <p:cNvSpPr/>
          <p:nvPr/>
        </p:nvSpPr>
        <p:spPr>
          <a:xfrm>
            <a:off x="685800" y="514807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1188720" y="512064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Responsive</a:t>
            </a:r>
            <a:endParaRPr lang="en-US" sz="1400" dirty="0"/>
          </a:p>
        </p:txBody>
      </p:sp>
      <p:sp>
        <p:nvSpPr>
          <p:cNvPr id="23" name="Text 21"/>
          <p:cNvSpPr/>
          <p:nvPr/>
        </p:nvSpPr>
        <p:spPr>
          <a:xfrm>
            <a:off x="4343400" y="510235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Reflowed rather than scaled. No horizontal overflow at 1440, 1200, 900, 720, 620 or 390 pixels.</a:t>
            </a:r>
            <a:endParaRPr lang="en-US" sz="1200" dirty="0"/>
          </a:p>
        </p:txBody>
      </p:sp>
      <p:sp>
        <p:nvSpPr>
          <p:cNvPr id="24" name="Text 22"/>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The homepage, the wallet gate and the application share one design system, one token layer and one motion language.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SECURITY AND TRUST</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What enforces what</a:t>
            </a:r>
            <a:endParaRPr lang="en-US" sz="3200" dirty="0"/>
          </a:p>
        </p:txBody>
      </p:sp>
      <p:sp>
        <p:nvSpPr>
          <p:cNvPr id="4" name="Shape 2"/>
          <p:cNvSpPr/>
          <p:nvPr/>
        </p:nvSpPr>
        <p:spPr>
          <a:xfrm>
            <a:off x="658368" y="1810512"/>
            <a:ext cx="10881360" cy="530352"/>
          </a:xfrm>
          <a:prstGeom prst="roundRect">
            <a:avLst>
              <a:gd name="adj" fmla="val 8621"/>
            </a:avLst>
          </a:prstGeom>
          <a:solidFill>
            <a:srgbClr val="FFFFFF"/>
          </a:solidFill>
          <a:ln w="12700">
            <a:solidFill>
              <a:srgbClr val="E4E1D9"/>
            </a:solidFill>
            <a:prstDash val="solid"/>
          </a:ln>
        </p:spPr>
      </p:sp>
      <p:sp>
        <p:nvSpPr>
          <p:cNvPr id="5" name="Text 3"/>
          <p:cNvSpPr/>
          <p:nvPr/>
        </p:nvSpPr>
        <p:spPr>
          <a:xfrm>
            <a:off x="932688" y="1810512"/>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Spending ceiling</a:t>
            </a:r>
            <a:endParaRPr lang="en-US" sz="1250" dirty="0"/>
          </a:p>
        </p:txBody>
      </p:sp>
      <p:sp>
        <p:nvSpPr>
          <p:cNvPr id="6" name="Text 4"/>
          <p:cNvSpPr/>
          <p:nvPr/>
        </p:nvSpPr>
        <p:spPr>
          <a:xfrm>
            <a:off x="6217920" y="1810512"/>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ProcurementEscrow.createDeal</a:t>
            </a:r>
            <a:endParaRPr lang="en-US" sz="1100" dirty="0"/>
          </a:p>
        </p:txBody>
      </p:sp>
      <p:sp>
        <p:nvSpPr>
          <p:cNvPr id="7" name="Shape 5"/>
          <p:cNvSpPr/>
          <p:nvPr/>
        </p:nvSpPr>
        <p:spPr>
          <a:xfrm>
            <a:off x="658368" y="2395728"/>
            <a:ext cx="10881360" cy="530352"/>
          </a:xfrm>
          <a:prstGeom prst="roundRect">
            <a:avLst>
              <a:gd name="adj" fmla="val 8621"/>
            </a:avLst>
          </a:prstGeom>
          <a:solidFill>
            <a:srgbClr val="F1EFEA"/>
          </a:solidFill>
          <a:ln w="12700">
            <a:solidFill>
              <a:srgbClr val="E4E1D9"/>
            </a:solidFill>
            <a:prstDash val="solid"/>
          </a:ln>
        </p:spPr>
      </p:sp>
      <p:sp>
        <p:nvSpPr>
          <p:cNvPr id="8" name="Text 6"/>
          <p:cNvSpPr/>
          <p:nvPr/>
        </p:nvSpPr>
        <p:spPr>
          <a:xfrm>
            <a:off x="932688" y="2395728"/>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Agent cannot widen the buyer ceiling</a:t>
            </a:r>
            <a:endParaRPr lang="en-US" sz="1250" dirty="0"/>
          </a:p>
        </p:txBody>
      </p:sp>
      <p:sp>
        <p:nvSpPr>
          <p:cNvPr id="9" name="Text 7"/>
          <p:cNvSpPr/>
          <p:nvPr/>
        </p:nvSpPr>
        <p:spPr>
          <a:xfrm>
            <a:off x="6217920" y="2395728"/>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Policy record keyed on msg.sender</a:t>
            </a:r>
            <a:endParaRPr lang="en-US" sz="1100" dirty="0"/>
          </a:p>
        </p:txBody>
      </p:sp>
      <p:sp>
        <p:nvSpPr>
          <p:cNvPr id="10" name="Shape 8"/>
          <p:cNvSpPr/>
          <p:nvPr/>
        </p:nvSpPr>
        <p:spPr>
          <a:xfrm>
            <a:off x="658368" y="2980944"/>
            <a:ext cx="10881360" cy="530352"/>
          </a:xfrm>
          <a:prstGeom prst="roundRect">
            <a:avLst>
              <a:gd name="adj" fmla="val 8621"/>
            </a:avLst>
          </a:prstGeom>
          <a:solidFill>
            <a:srgbClr val="FFFFFF"/>
          </a:solidFill>
          <a:ln w="12700">
            <a:solidFill>
              <a:srgbClr val="E4E1D9"/>
            </a:solidFill>
            <a:prstDash val="solid"/>
          </a:ln>
        </p:spPr>
      </p:sp>
      <p:sp>
        <p:nvSpPr>
          <p:cNvPr id="11" name="Text 9"/>
          <p:cNvSpPr/>
          <p:nvPr/>
        </p:nvSpPr>
        <p:spPr>
          <a:xfrm>
            <a:off x="932688" y="2980944"/>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Only the authorised agent can spend</a:t>
            </a:r>
            <a:endParaRPr lang="en-US" sz="1250" dirty="0"/>
          </a:p>
        </p:txBody>
      </p:sp>
      <p:sp>
        <p:nvSpPr>
          <p:cNvPr id="12" name="Text 10"/>
          <p:cNvSpPr/>
          <p:nvPr/>
        </p:nvSpPr>
        <p:spPr>
          <a:xfrm>
            <a:off x="6217920" y="2980944"/>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NotAuthorisedAgent</a:t>
            </a:r>
            <a:endParaRPr lang="en-US" sz="1100" dirty="0"/>
          </a:p>
        </p:txBody>
      </p:sp>
      <p:sp>
        <p:nvSpPr>
          <p:cNvPr id="13" name="Shape 11"/>
          <p:cNvSpPr/>
          <p:nvPr/>
        </p:nvSpPr>
        <p:spPr>
          <a:xfrm>
            <a:off x="658368" y="3566160"/>
            <a:ext cx="10881360" cy="530352"/>
          </a:xfrm>
          <a:prstGeom prst="roundRect">
            <a:avLst>
              <a:gd name="adj" fmla="val 8621"/>
            </a:avLst>
          </a:prstGeom>
          <a:solidFill>
            <a:srgbClr val="F1EFEA"/>
          </a:solidFill>
          <a:ln w="12700">
            <a:solidFill>
              <a:srgbClr val="E4E1D9"/>
            </a:solidFill>
            <a:prstDash val="solid"/>
          </a:ln>
        </p:spPr>
      </p:sp>
      <p:sp>
        <p:nvSpPr>
          <p:cNvPr id="14" name="Text 12"/>
          <p:cNvSpPr/>
          <p:nvPr/>
        </p:nvSpPr>
        <p:spPr>
          <a:xfrm>
            <a:off x="932688" y="3566160"/>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Reputation writes</a:t>
            </a:r>
            <a:endParaRPr lang="en-US" sz="1250" dirty="0"/>
          </a:p>
        </p:txBody>
      </p:sp>
      <p:sp>
        <p:nvSpPr>
          <p:cNvPr id="15" name="Text 13"/>
          <p:cNvSpPr/>
          <p:nvPr/>
        </p:nvSpPr>
        <p:spPr>
          <a:xfrm>
            <a:off x="6217920" y="3566160"/>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SupplierRegistry, escrow only</a:t>
            </a:r>
            <a:endParaRPr lang="en-US" sz="1100" dirty="0"/>
          </a:p>
        </p:txBody>
      </p:sp>
      <p:sp>
        <p:nvSpPr>
          <p:cNvPr id="16" name="Shape 14"/>
          <p:cNvSpPr/>
          <p:nvPr/>
        </p:nvSpPr>
        <p:spPr>
          <a:xfrm>
            <a:off x="658368" y="4151376"/>
            <a:ext cx="10881360" cy="530352"/>
          </a:xfrm>
          <a:prstGeom prst="roundRect">
            <a:avLst>
              <a:gd name="adj" fmla="val 8621"/>
            </a:avLst>
          </a:prstGeom>
          <a:solidFill>
            <a:srgbClr val="FFFFFF"/>
          </a:solidFill>
          <a:ln w="12700">
            <a:solidFill>
              <a:srgbClr val="E4E1D9"/>
            </a:solidFill>
            <a:prstDash val="solid"/>
          </a:ln>
        </p:spPr>
      </p:sp>
      <p:sp>
        <p:nvSpPr>
          <p:cNvPr id="17" name="Text 15"/>
          <p:cNvSpPr/>
          <p:nvPr/>
        </p:nvSpPr>
        <p:spPr>
          <a:xfrm>
            <a:off x="932688" y="4151376"/>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Document values</a:t>
            </a:r>
            <a:endParaRPr lang="en-US" sz="1250" dirty="0"/>
          </a:p>
        </p:txBody>
      </p:sp>
      <p:sp>
        <p:nvSpPr>
          <p:cNvPr id="18" name="Text 16"/>
          <p:cNvSpPr/>
          <p:nvPr/>
        </p:nvSpPr>
        <p:spPr>
          <a:xfrm>
            <a:off x="6217920" y="4151376"/>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Canonical server state</a:t>
            </a:r>
            <a:endParaRPr lang="en-US" sz="1100" dirty="0"/>
          </a:p>
        </p:txBody>
      </p:sp>
      <p:sp>
        <p:nvSpPr>
          <p:cNvPr id="19" name="Shape 17"/>
          <p:cNvSpPr/>
          <p:nvPr/>
        </p:nvSpPr>
        <p:spPr>
          <a:xfrm>
            <a:off x="658368" y="4736592"/>
            <a:ext cx="10881360" cy="530352"/>
          </a:xfrm>
          <a:prstGeom prst="roundRect">
            <a:avLst>
              <a:gd name="adj" fmla="val 8621"/>
            </a:avLst>
          </a:prstGeom>
          <a:solidFill>
            <a:srgbClr val="F1EFEA"/>
          </a:solidFill>
          <a:ln w="12700">
            <a:solidFill>
              <a:srgbClr val="E4E1D9"/>
            </a:solidFill>
            <a:prstDash val="solid"/>
          </a:ln>
        </p:spPr>
      </p:sp>
      <p:sp>
        <p:nvSpPr>
          <p:cNvPr id="20" name="Text 18"/>
          <p:cNvSpPr/>
          <p:nvPr/>
        </p:nvSpPr>
        <p:spPr>
          <a:xfrm>
            <a:off x="932688" y="4736592"/>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Explanation layer cannot act</a:t>
            </a:r>
            <a:endParaRPr lang="en-US" sz="1250" dirty="0"/>
          </a:p>
        </p:txBody>
      </p:sp>
      <p:sp>
        <p:nvSpPr>
          <p:cNvPr id="21" name="Text 19"/>
          <p:cNvSpPr/>
          <p:nvPr/>
        </p:nvSpPr>
        <p:spPr>
          <a:xfrm>
            <a:off x="6217920" y="4736592"/>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No capability imports</a:t>
            </a:r>
            <a:endParaRPr lang="en-US" sz="1100" dirty="0"/>
          </a:p>
        </p:txBody>
      </p:sp>
      <p:sp>
        <p:nvSpPr>
          <p:cNvPr id="22" name="Shape 20"/>
          <p:cNvSpPr/>
          <p:nvPr/>
        </p:nvSpPr>
        <p:spPr>
          <a:xfrm>
            <a:off x="658368" y="5321808"/>
            <a:ext cx="10881360" cy="530352"/>
          </a:xfrm>
          <a:prstGeom prst="roundRect">
            <a:avLst>
              <a:gd name="adj" fmla="val 8621"/>
            </a:avLst>
          </a:prstGeom>
          <a:solidFill>
            <a:srgbClr val="FFFFFF"/>
          </a:solidFill>
          <a:ln w="12700">
            <a:solidFill>
              <a:srgbClr val="E4E1D9"/>
            </a:solidFill>
            <a:prstDash val="solid"/>
          </a:ln>
        </p:spPr>
      </p:sp>
      <p:sp>
        <p:nvSpPr>
          <p:cNvPr id="23" name="Text 21"/>
          <p:cNvSpPr/>
          <p:nvPr/>
        </p:nvSpPr>
        <p:spPr>
          <a:xfrm>
            <a:off x="932688" y="5321808"/>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Instructions to act</a:t>
            </a:r>
            <a:endParaRPr lang="en-US" sz="1250" dirty="0"/>
          </a:p>
        </p:txBody>
      </p:sp>
      <p:sp>
        <p:nvSpPr>
          <p:cNvPr id="24" name="Text 22"/>
          <p:cNvSpPr/>
          <p:nvPr/>
        </p:nvSpPr>
        <p:spPr>
          <a:xfrm>
            <a:off x="6217920" y="5321808"/>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Refused before any model call</a:t>
            </a:r>
            <a:endParaRPr lang="en-US" sz="1100" dirty="0"/>
          </a:p>
        </p:txBody>
      </p:sp>
      <p:sp>
        <p:nvSpPr>
          <p:cNvPr id="25" name="Text 23"/>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The API is not the final authority for the spending limit. The contract is.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TESTING</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The claim is worth what the tests behind it are worth</a:t>
            </a:r>
            <a:endParaRPr lang="en-US" sz="3200" dirty="0"/>
          </a:p>
        </p:txBody>
      </p:sp>
      <p:sp>
        <p:nvSpPr>
          <p:cNvPr id="4" name="Text 2"/>
          <p:cNvSpPr/>
          <p:nvPr/>
        </p:nvSpPr>
        <p:spPr>
          <a:xfrm>
            <a:off x="658368" y="1828800"/>
            <a:ext cx="246888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106</a:t>
            </a:r>
            <a:endParaRPr lang="en-US" sz="3800" dirty="0"/>
          </a:p>
        </p:txBody>
      </p:sp>
      <p:sp>
        <p:nvSpPr>
          <p:cNvPr id="5" name="Text 3"/>
          <p:cNvSpPr/>
          <p:nvPr/>
        </p:nvSpPr>
        <p:spPr>
          <a:xfrm>
            <a:off x="658368" y="2468880"/>
            <a:ext cx="246888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unit and contract tests</a:t>
            </a:r>
            <a:endParaRPr lang="en-US" sz="1150" dirty="0"/>
          </a:p>
        </p:txBody>
      </p:sp>
      <p:sp>
        <p:nvSpPr>
          <p:cNvPr id="6" name="Text 4"/>
          <p:cNvSpPr/>
          <p:nvPr/>
        </p:nvSpPr>
        <p:spPr>
          <a:xfrm>
            <a:off x="3383280" y="1828800"/>
            <a:ext cx="246888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101</a:t>
            </a:r>
            <a:endParaRPr lang="en-US" sz="3800" dirty="0"/>
          </a:p>
        </p:txBody>
      </p:sp>
      <p:sp>
        <p:nvSpPr>
          <p:cNvPr id="7" name="Text 5"/>
          <p:cNvSpPr/>
          <p:nvPr/>
        </p:nvSpPr>
        <p:spPr>
          <a:xfrm>
            <a:off x="3383280" y="2468880"/>
            <a:ext cx="246888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live API route checks</a:t>
            </a:r>
            <a:endParaRPr lang="en-US" sz="1150" dirty="0"/>
          </a:p>
        </p:txBody>
      </p:sp>
      <p:sp>
        <p:nvSpPr>
          <p:cNvPr id="8" name="Text 6"/>
          <p:cNvSpPr/>
          <p:nvPr/>
        </p:nvSpPr>
        <p:spPr>
          <a:xfrm>
            <a:off x="6108192" y="1828800"/>
            <a:ext cx="246888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23</a:t>
            </a:r>
            <a:endParaRPr lang="en-US" sz="3800" dirty="0"/>
          </a:p>
        </p:txBody>
      </p:sp>
      <p:sp>
        <p:nvSpPr>
          <p:cNvPr id="9" name="Text 7"/>
          <p:cNvSpPr/>
          <p:nvPr/>
        </p:nvSpPr>
        <p:spPr>
          <a:xfrm>
            <a:off x="6108192" y="2468880"/>
            <a:ext cx="246888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endpoints, all swept</a:t>
            </a:r>
            <a:endParaRPr lang="en-US" sz="1150" dirty="0"/>
          </a:p>
        </p:txBody>
      </p:sp>
      <p:sp>
        <p:nvSpPr>
          <p:cNvPr id="10" name="Text 8"/>
          <p:cNvSpPr/>
          <p:nvPr/>
        </p:nvSpPr>
        <p:spPr>
          <a:xfrm>
            <a:off x="8833104" y="2468880"/>
            <a:ext cx="265176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0</a:t>
            </a:r>
            <a:endParaRPr lang="en-US" sz="3800" dirty="0"/>
          </a:p>
        </p:txBody>
      </p:sp>
      <p:sp>
        <p:nvSpPr>
          <p:cNvPr id="11" name="Text 9"/>
          <p:cNvSpPr/>
          <p:nvPr/>
        </p:nvSpPr>
        <p:spPr>
          <a:xfrm>
            <a:off x="8833104" y="3108960"/>
            <a:ext cx="265176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external services required</a:t>
            </a:r>
            <a:endParaRPr lang="en-US" sz="1150" dirty="0"/>
          </a:p>
        </p:txBody>
      </p:sp>
      <p:sp>
        <p:nvSpPr>
          <p:cNvPr id="12" name="Shape 10"/>
          <p:cNvSpPr/>
          <p:nvPr/>
        </p:nvSpPr>
        <p:spPr>
          <a:xfrm>
            <a:off x="658368" y="3520440"/>
            <a:ext cx="5349240" cy="2057400"/>
          </a:xfrm>
          <a:prstGeom prst="roundRect">
            <a:avLst>
              <a:gd name="adj" fmla="val 3111"/>
            </a:avLst>
          </a:prstGeom>
          <a:solidFill>
            <a:srgbClr val="FFFFFF"/>
          </a:solidFill>
          <a:ln w="12700">
            <a:solidFill>
              <a:srgbClr val="D2CEC4"/>
            </a:solidFill>
            <a:prstDash val="solid"/>
          </a:ln>
        </p:spPr>
      </p:sp>
      <p:sp>
        <p:nvSpPr>
          <p:cNvPr id="13" name="Text 11"/>
          <p:cNvSpPr/>
          <p:nvPr/>
        </p:nvSpPr>
        <p:spPr>
          <a:xfrm>
            <a:off x="932688" y="3703320"/>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What the route sweep caught</a:t>
            </a:r>
            <a:endParaRPr lang="en-US" sz="1350" dirty="0"/>
          </a:p>
        </p:txBody>
      </p:sp>
      <p:sp>
        <p:nvSpPr>
          <p:cNvPr id="14" name="Text 12"/>
          <p:cNvSpPr/>
          <p:nvPr/>
        </p:nvSpPr>
        <p:spPr>
          <a:xfrm>
            <a:off x="932688" y="4078224"/>
            <a:ext cx="4800600" cy="128016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 second run in the same workspace inherited the previous settlement, signature and deal id, so a fresh unfunded run claimed to be signed and paid. Unit tests could not reach it.</a:t>
            </a:r>
            <a:endParaRPr lang="en-US" sz="1200" dirty="0"/>
          </a:p>
        </p:txBody>
      </p:sp>
      <p:sp>
        <p:nvSpPr>
          <p:cNvPr id="15" name="Shape 13"/>
          <p:cNvSpPr/>
          <p:nvPr/>
        </p:nvSpPr>
        <p:spPr>
          <a:xfrm>
            <a:off x="6190488" y="3520440"/>
            <a:ext cx="5349240" cy="2057400"/>
          </a:xfrm>
          <a:prstGeom prst="roundRect">
            <a:avLst>
              <a:gd name="adj" fmla="val 3111"/>
            </a:avLst>
          </a:prstGeom>
          <a:solidFill>
            <a:srgbClr val="FFFFFF"/>
          </a:solidFill>
          <a:ln w="12700">
            <a:solidFill>
              <a:srgbClr val="D2CEC4"/>
            </a:solidFill>
            <a:prstDash val="solid"/>
          </a:ln>
        </p:spPr>
      </p:sp>
      <p:sp>
        <p:nvSpPr>
          <p:cNvPr id="16" name="Text 14"/>
          <p:cNvSpPr/>
          <p:nvPr/>
        </p:nvSpPr>
        <p:spPr>
          <a:xfrm>
            <a:off x="6464808" y="3703320"/>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And one of its own assertions</a:t>
            </a:r>
            <a:endParaRPr lang="en-US" sz="1350" dirty="0"/>
          </a:p>
        </p:txBody>
      </p:sp>
      <p:sp>
        <p:nvSpPr>
          <p:cNvPr id="17" name="Text 15"/>
          <p:cNvSpPr/>
          <p:nvPr/>
        </p:nvSpPr>
        <p:spPr>
          <a:xfrm>
            <a:off x="6464808" y="4078224"/>
            <a:ext cx="4800600" cy="128016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 ceiling check read a field the negotiation shape does not carry, so it passed without comparing a number. It now checks that no offer the agent makes crosses the unit ceiling.</a:t>
            </a:r>
            <a:endParaRPr lang="en-US" sz="1200" dirty="0"/>
          </a:p>
        </p:txBody>
      </p:sp>
      <p:sp>
        <p:nvSpPr>
          <p:cNvPr id="18" name="Text 16"/>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Adversarial coverage includes prompt injection, hostile supplier text, mistyped commands and instructions bundled inside questions.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HONEST SCOPE</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What is real, what is simulated, what is next</a:t>
            </a:r>
            <a:endParaRPr lang="en-US" sz="3200" dirty="0"/>
          </a:p>
        </p:txBody>
      </p:sp>
      <p:sp>
        <p:nvSpPr>
          <p:cNvPr id="4" name="Shape 2"/>
          <p:cNvSpPr/>
          <p:nvPr/>
        </p:nvSpPr>
        <p:spPr>
          <a:xfrm>
            <a:off x="658368" y="1847088"/>
            <a:ext cx="3493008" cy="3291840"/>
          </a:xfrm>
          <a:prstGeom prst="roundRect">
            <a:avLst>
              <a:gd name="adj" fmla="val 1944"/>
            </a:avLst>
          </a:prstGeom>
          <a:solidFill>
            <a:srgbClr val="E9F1EF"/>
          </a:solidFill>
          <a:ln w="12700">
            <a:solidFill>
              <a:srgbClr val="B2CCC5"/>
            </a:solidFill>
            <a:prstDash val="solid"/>
          </a:ln>
        </p:spPr>
      </p:sp>
      <p:sp>
        <p:nvSpPr>
          <p:cNvPr id="5" name="Text 3"/>
          <p:cNvSpPr/>
          <p:nvPr/>
        </p:nvSpPr>
        <p:spPr>
          <a:xfrm>
            <a:off x="914400" y="2029968"/>
            <a:ext cx="3017520" cy="310896"/>
          </a:xfrm>
          <a:prstGeom prst="rect">
            <a:avLst/>
          </a:prstGeom>
          <a:noFill/>
          <a:ln/>
        </p:spPr>
        <p:txBody>
          <a:bodyPr wrap="square" lIns="0" tIns="0" rIns="0" bIns="0" rtlCol="0" anchor="ctr"/>
          <a:lstStyle/>
          <a:p>
            <a:pPr indent="0" marL="0">
              <a:buNone/>
            </a:pPr>
            <a:r>
              <a:rPr lang="en-US" sz="1300" b="1" dirty="0">
                <a:solidFill>
                  <a:srgbClr val="084A40"/>
                </a:solidFill>
                <a:latin typeface="Calibri" pitchFamily="34" charset="0"/>
                <a:ea typeface="Calibri" pitchFamily="34" charset="-122"/>
                <a:cs typeface="Calibri" pitchFamily="34" charset="-120"/>
              </a:rPr>
              <a:t>Real today</a:t>
            </a:r>
            <a:endParaRPr lang="en-US" sz="1300" dirty="0"/>
          </a:p>
        </p:txBody>
      </p:sp>
      <p:sp>
        <p:nvSpPr>
          <p:cNvPr id="6" name="Text 4"/>
          <p:cNvSpPr/>
          <p:nvPr/>
        </p:nvSpPr>
        <p:spPr>
          <a:xfrm>
            <a:off x="914400" y="2432304"/>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Contract enforcement of the ceiling</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Real transactions and reverts</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Escrow custody and release</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On-chain reputation</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Document hashing and versioning</a:t>
            </a:r>
            <a:endParaRPr lang="en-US" sz="1150" dirty="0"/>
          </a:p>
        </p:txBody>
      </p:sp>
      <p:sp>
        <p:nvSpPr>
          <p:cNvPr id="7" name="Shape 5"/>
          <p:cNvSpPr/>
          <p:nvPr/>
        </p:nvSpPr>
        <p:spPr>
          <a:xfrm>
            <a:off x="4352544" y="1847088"/>
            <a:ext cx="3493008" cy="3291840"/>
          </a:xfrm>
          <a:prstGeom prst="roundRect">
            <a:avLst>
              <a:gd name="adj" fmla="val 1944"/>
            </a:avLst>
          </a:prstGeom>
          <a:solidFill>
            <a:srgbClr val="F1EFEA"/>
          </a:solidFill>
          <a:ln w="12700">
            <a:solidFill>
              <a:srgbClr val="D2CEC4"/>
            </a:solidFill>
            <a:prstDash val="solid"/>
          </a:ln>
        </p:spPr>
      </p:sp>
      <p:sp>
        <p:nvSpPr>
          <p:cNvPr id="8" name="Text 6"/>
          <p:cNvSpPr/>
          <p:nvPr/>
        </p:nvSpPr>
        <p:spPr>
          <a:xfrm>
            <a:off x="4608576" y="2029968"/>
            <a:ext cx="3017520" cy="310896"/>
          </a:xfrm>
          <a:prstGeom prst="rect">
            <a:avLst/>
          </a:prstGeom>
          <a:noFill/>
          <a:ln/>
        </p:spPr>
        <p:txBody>
          <a:bodyPr wrap="square" lIns="0" tIns="0" rIns="0" bIns="0" rtlCol="0" anchor="ctr"/>
          <a:lstStyle/>
          <a:p>
            <a:pPr indent="0" marL="0">
              <a:buNone/>
            </a:pPr>
            <a:r>
              <a:rPr lang="en-US" sz="1300" b="1" dirty="0">
                <a:solidFill>
                  <a:srgbClr val="576169"/>
                </a:solidFill>
                <a:latin typeface="Calibri" pitchFamily="34" charset="0"/>
                <a:ea typeface="Calibri" pitchFamily="34" charset="-122"/>
                <a:cs typeface="Calibri" pitchFamily="34" charset="-120"/>
              </a:rPr>
              <a:t>Simulated</a:t>
            </a:r>
            <a:endParaRPr lang="en-US" sz="1300" dirty="0"/>
          </a:p>
        </p:txBody>
      </p:sp>
      <p:sp>
        <p:nvSpPr>
          <p:cNvPr id="9" name="Text 7"/>
          <p:cNvSpPr/>
          <p:nvPr/>
        </p:nvSpPr>
        <p:spPr>
          <a:xfrm>
            <a:off x="4608576" y="2432304"/>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Seeded supplier catalogue</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Supplier negotiation behaviour</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Buyer-attested delivery</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MockUSDC, in-process EVM</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Signature is not legally binding</a:t>
            </a:r>
            <a:endParaRPr lang="en-US" sz="1150" dirty="0"/>
          </a:p>
        </p:txBody>
      </p:sp>
      <p:sp>
        <p:nvSpPr>
          <p:cNvPr id="10" name="Shape 8"/>
          <p:cNvSpPr/>
          <p:nvPr/>
        </p:nvSpPr>
        <p:spPr>
          <a:xfrm>
            <a:off x="8046720" y="1847088"/>
            <a:ext cx="3493008" cy="3291840"/>
          </a:xfrm>
          <a:prstGeom prst="roundRect">
            <a:avLst>
              <a:gd name="adj" fmla="val 1944"/>
            </a:avLst>
          </a:prstGeom>
          <a:solidFill>
            <a:srgbClr val="12161A"/>
          </a:solidFill>
          <a:ln w="12700">
            <a:solidFill>
              <a:srgbClr val="12161A"/>
            </a:solidFill>
            <a:prstDash val="solid"/>
          </a:ln>
        </p:spPr>
      </p:sp>
      <p:sp>
        <p:nvSpPr>
          <p:cNvPr id="11" name="Text 9"/>
          <p:cNvSpPr/>
          <p:nvPr/>
        </p:nvSpPr>
        <p:spPr>
          <a:xfrm>
            <a:off x="8302752" y="2029968"/>
            <a:ext cx="3017520" cy="310896"/>
          </a:xfrm>
          <a:prstGeom prst="rect">
            <a:avLst/>
          </a:prstGeom>
          <a:noFill/>
          <a:ln/>
        </p:spPr>
        <p:txBody>
          <a:bodyPr wrap="square" lIns="0" tIns="0" rIns="0" bIns="0" rtlCol="0" anchor="ctr"/>
          <a:lstStyle/>
          <a:p>
            <a:pPr indent="0" marL="0">
              <a:buNone/>
            </a:pPr>
            <a:r>
              <a:rPr lang="en-US" sz="1300" b="1" dirty="0">
                <a:solidFill>
                  <a:srgbClr val="3FBFA3"/>
                </a:solidFill>
                <a:latin typeface="Calibri" pitchFamily="34" charset="0"/>
                <a:ea typeface="Calibri" pitchFamily="34" charset="-122"/>
                <a:cs typeface="Calibri" pitchFamily="34" charset="-120"/>
              </a:rPr>
              <a:t>Next</a:t>
            </a:r>
            <a:endParaRPr lang="en-US" sz="1300" dirty="0"/>
          </a:p>
        </p:txBody>
      </p:sp>
      <p:sp>
        <p:nvSpPr>
          <p:cNvPr id="12" name="Text 10"/>
          <p:cNvSpPr/>
          <p:nvPr/>
        </p:nvSpPr>
        <p:spPr>
          <a:xfrm>
            <a:off x="8302752" y="2432304"/>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C3DCD5"/>
                </a:solidFill>
                <a:latin typeface="Calibri" pitchFamily="34" charset="0"/>
                <a:ea typeface="Calibri" pitchFamily="34" charset="-122"/>
                <a:cs typeface="Calibri" pitchFamily="34" charset="-120"/>
              </a:rPr>
              <a:t>Oracle-backed delivery proof</a:t>
            </a:r>
            <a:endParaRPr lang="en-US" sz="1150" dirty="0"/>
          </a:p>
          <a:p>
            <a:pPr marL="342900" indent="-342900">
              <a:spcAft>
                <a:spcPts val="700"/>
              </a:spcAft>
              <a:buSzPct val="100000"/>
              <a:buChar char="•"/>
            </a:pPr>
            <a:r>
              <a:rPr lang="en-US" sz="1150" dirty="0">
                <a:solidFill>
                  <a:srgbClr val="C3DCD5"/>
                </a:solidFill>
                <a:latin typeface="Calibri" pitchFamily="34" charset="0"/>
                <a:ea typeface="Calibri" pitchFamily="34" charset="-122"/>
                <a:cs typeface="Calibri" pitchFamily="34" charset="-120"/>
              </a:rPr>
              <a:t>Per-workspace buyer wallets</a:t>
            </a:r>
            <a:endParaRPr lang="en-US" sz="1150" dirty="0"/>
          </a:p>
          <a:p>
            <a:pPr marL="342900" indent="-342900">
              <a:spcAft>
                <a:spcPts val="700"/>
              </a:spcAft>
              <a:buSzPct val="100000"/>
              <a:buChar char="•"/>
            </a:pPr>
            <a:r>
              <a:rPr lang="en-US" sz="1150" dirty="0">
                <a:solidFill>
                  <a:srgbClr val="C3DCD5"/>
                </a:solidFill>
                <a:latin typeface="Calibri" pitchFamily="34" charset="0"/>
                <a:ea typeface="Calibri" pitchFamily="34" charset="-122"/>
                <a:cs typeface="Calibri" pitchFamily="34" charset="-120"/>
              </a:rPr>
              <a:t>Supplier-side agents</a:t>
            </a:r>
            <a:endParaRPr lang="en-US" sz="1150" dirty="0"/>
          </a:p>
          <a:p>
            <a:pPr marL="342900" indent="-342900">
              <a:spcAft>
                <a:spcPts val="700"/>
              </a:spcAft>
              <a:buSzPct val="100000"/>
              <a:buChar char="•"/>
            </a:pPr>
            <a:r>
              <a:rPr lang="en-US" sz="1150" dirty="0">
                <a:solidFill>
                  <a:srgbClr val="C3DCD5"/>
                </a:solidFill>
                <a:latin typeface="Calibri" pitchFamily="34" charset="0"/>
                <a:ea typeface="Calibri" pitchFamily="34" charset="-122"/>
                <a:cs typeface="Calibri" pitchFamily="34" charset="-120"/>
              </a:rPr>
              <a:t>Public network through RPC_URL</a:t>
            </a:r>
            <a:endParaRPr lang="en-US" sz="1150" dirty="0"/>
          </a:p>
        </p:txBody>
      </p:sp>
      <p:sp>
        <p:nvSpPr>
          <p:cNvPr id="13" name="Text 11"/>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Naming what is simulated is what makes the enforced part credible.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61A"/>
        </a:solidFill>
      </p:bgPr>
    </p:bg>
    <p:spTree>
      <p:nvGrpSpPr>
        <p:cNvPr id="1" name=""/>
        <p:cNvGrpSpPr/>
        <p:nvPr/>
      </p:nvGrpSpPr>
      <p:grpSpPr>
        <a:xfrm>
          <a:off x="0" y="0"/>
          <a:ext cx="0" cy="0"/>
          <a:chOff x="0" y="0"/>
          <a:chExt cx="0" cy="0"/>
        </a:xfrm>
      </p:grpSpPr>
      <p:sp>
        <p:nvSpPr>
          <p:cNvPr id="2" name="Shape 0"/>
          <p:cNvSpPr/>
          <p:nvPr/>
        </p:nvSpPr>
        <p:spPr>
          <a:xfrm>
            <a:off x="-1645920" y="2926080"/>
            <a:ext cx="5303520" cy="5303520"/>
          </a:xfrm>
          <a:prstGeom prst="ellipse">
            <a:avLst/>
          </a:prstGeom>
          <a:solidFill>
            <a:srgbClr val="183028"/>
          </a:solidFill>
          <a:ln w="12700">
            <a:solidFill>
              <a:srgbClr val="183028"/>
            </a:solidFill>
            <a:prstDash val="solid"/>
          </a:ln>
        </p:spPr>
      </p:sp>
      <p:sp>
        <p:nvSpPr>
          <p:cNvPr id="3" name="Shape 1"/>
          <p:cNvSpPr/>
          <p:nvPr/>
        </p:nvSpPr>
        <p:spPr>
          <a:xfrm>
            <a:off x="9509760" y="-1463040"/>
            <a:ext cx="4023360" cy="4023360"/>
          </a:xfrm>
          <a:prstGeom prst="ellipse">
            <a:avLst/>
          </a:prstGeom>
          <a:solidFill>
            <a:srgbClr val="152822"/>
          </a:solidFill>
          <a:ln w="12700">
            <a:solidFill>
              <a:srgbClr val="152822"/>
            </a:solidFill>
            <a:prstDash val="solid"/>
          </a:ln>
        </p:spPr>
      </p:sp>
      <p:sp>
        <p:nvSpPr>
          <p:cNvPr id="4" name="Shape 2"/>
          <p:cNvSpPr/>
          <p:nvPr/>
        </p:nvSpPr>
        <p:spPr>
          <a:xfrm>
            <a:off x="822960" y="777240"/>
            <a:ext cx="530352" cy="530352"/>
          </a:xfrm>
          <a:prstGeom prst="roundRect">
            <a:avLst>
              <a:gd name="adj" fmla="val 22414"/>
            </a:avLst>
          </a:prstGeom>
          <a:solidFill>
            <a:srgbClr val="FFFFFF"/>
          </a:solidFill>
          <a:ln w="12700">
            <a:solidFill>
              <a:srgbClr val="FFFFFF"/>
            </a:solidFill>
            <a:prstDash val="solid"/>
          </a:ln>
        </p:spPr>
      </p:sp>
      <p:sp>
        <p:nvSpPr>
          <p:cNvPr id="5" name="Text 3"/>
          <p:cNvSpPr/>
          <p:nvPr/>
        </p:nvSpPr>
        <p:spPr>
          <a:xfrm>
            <a:off x="822960" y="777240"/>
            <a:ext cx="530352" cy="530352"/>
          </a:xfrm>
          <a:prstGeom prst="rect">
            <a:avLst/>
          </a:prstGeom>
          <a:noFill/>
          <a:ln/>
        </p:spPr>
        <p:txBody>
          <a:bodyPr wrap="square" lIns="0" tIns="0" rIns="0" bIns="0" rtlCol="0" anchor="ctr"/>
          <a:lstStyle/>
          <a:p>
            <a:pPr algn="ctr" indent="0" marL="0">
              <a:buNone/>
            </a:pPr>
            <a:r>
              <a:rPr lang="en-US" sz="2400" b="1" dirty="0">
                <a:solidFill>
                  <a:srgbClr val="12161A"/>
                </a:solidFill>
                <a:latin typeface="Cambria" pitchFamily="34" charset="0"/>
                <a:ea typeface="Cambria" pitchFamily="34" charset="-122"/>
                <a:cs typeface="Cambria" pitchFamily="34" charset="-120"/>
              </a:rPr>
              <a:t>L</a:t>
            </a:r>
            <a:endParaRPr lang="en-US" sz="2400" dirty="0"/>
          </a:p>
        </p:txBody>
      </p:sp>
      <p:sp>
        <p:nvSpPr>
          <p:cNvPr id="6" name="Text 4"/>
          <p:cNvSpPr/>
          <p:nvPr/>
        </p:nvSpPr>
        <p:spPr>
          <a:xfrm>
            <a:off x="1499616" y="804672"/>
            <a:ext cx="3657600" cy="475488"/>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LIMEN</a:t>
            </a:r>
            <a:endParaRPr lang="en-US" sz="1300" dirty="0"/>
          </a:p>
        </p:txBody>
      </p:sp>
      <p:sp>
        <p:nvSpPr>
          <p:cNvPr id="7" name="Text 5"/>
          <p:cNvSpPr/>
          <p:nvPr/>
        </p:nvSpPr>
        <p:spPr>
          <a:xfrm>
            <a:off x="822960" y="2286000"/>
            <a:ext cx="9509760" cy="1737360"/>
          </a:xfrm>
          <a:prstGeom prst="rect">
            <a:avLst/>
          </a:prstGeom>
          <a:noFill/>
          <a:ln/>
        </p:spPr>
        <p:txBody>
          <a:bodyPr wrap="square" lIns="0" tIns="0" rIns="0" bIns="0" rtlCol="0" anchor="t"/>
          <a:lstStyle/>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The limit is contract state.</a:t>
            </a:r>
            <a:endParaRPr lang="en-US" sz="3800" dirty="0"/>
          </a:p>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The agent cannot raise it.</a:t>
            </a:r>
            <a:endParaRPr lang="en-US" sz="3800" dirty="0"/>
          </a:p>
        </p:txBody>
      </p:sp>
      <p:sp>
        <p:nvSpPr>
          <p:cNvPr id="8" name="Shape 6"/>
          <p:cNvSpPr/>
          <p:nvPr/>
        </p:nvSpPr>
        <p:spPr>
          <a:xfrm>
            <a:off x="859536" y="4261104"/>
            <a:ext cx="10424160" cy="0"/>
          </a:xfrm>
          <a:prstGeom prst="line">
            <a:avLst/>
          </a:prstGeom>
          <a:noFill/>
          <a:ln w="12700">
            <a:solidFill>
              <a:srgbClr val="2A6659"/>
            </a:solidFill>
            <a:prstDash val="solid"/>
          </a:ln>
        </p:spPr>
      </p:sp>
      <p:sp>
        <p:nvSpPr>
          <p:cNvPr id="9" name="Text 7"/>
          <p:cNvSpPr/>
          <p:nvPr/>
        </p:nvSpPr>
        <p:spPr>
          <a:xfrm>
            <a:off x="822960" y="4480560"/>
            <a:ext cx="10515600" cy="365760"/>
          </a:xfrm>
          <a:prstGeom prst="rect">
            <a:avLst/>
          </a:prstGeom>
          <a:noFill/>
          <a:ln/>
        </p:spPr>
        <p:txBody>
          <a:bodyPr wrap="square" lIns="0" tIns="0" rIns="0" bIns="0" rtlCol="0" anchor="ctr"/>
          <a:lstStyle/>
          <a:p>
            <a:pPr indent="0" marL="0">
              <a:buNone/>
            </a:pPr>
            <a:r>
              <a:rPr lang="en-US" sz="1350" dirty="0">
                <a:solidFill>
                  <a:srgbClr val="3FBFA3"/>
                </a:solidFill>
                <a:latin typeface="Calibri" pitchFamily="34" charset="0"/>
                <a:ea typeface="Calibri" pitchFamily="34" charset="-122"/>
                <a:cs typeface="Calibri" pitchFamily="34" charset="-120"/>
              </a:rPr>
              <a:t>106 unit tests   ·   101 route checks   ·   23 endpoints   ·   no external services</a:t>
            </a:r>
            <a:endParaRPr lang="en-US" sz="1350" dirty="0"/>
          </a:p>
        </p:txBody>
      </p:sp>
      <p:sp>
        <p:nvSpPr>
          <p:cNvPr id="10" name="Text 8"/>
          <p:cNvSpPr/>
          <p:nvPr/>
        </p:nvSpPr>
        <p:spPr>
          <a:xfrm>
            <a:off x="822960" y="5394960"/>
            <a:ext cx="10515600" cy="329184"/>
          </a:xfrm>
          <a:prstGeom prst="rect">
            <a:avLst/>
          </a:prstGeom>
          <a:noFill/>
          <a:ln/>
        </p:spPr>
        <p:txBody>
          <a:bodyPr wrap="square" lIns="0" tIns="0" rIns="0" bIns="0" rtlCol="0" anchor="ctr"/>
          <a:lstStyle/>
          <a:p>
            <a:pPr indent="0" marL="0">
              <a:buNone/>
            </a:pPr>
            <a:r>
              <a:rPr lang="en-US" sz="1250" dirty="0">
                <a:solidFill>
                  <a:srgbClr val="C3DCD5"/>
                </a:solidFill>
                <a:latin typeface="Calibri" pitchFamily="34" charset="0"/>
                <a:ea typeface="Calibri" pitchFamily="34" charset="-122"/>
                <a:cs typeface="Calibri" pitchFamily="34" charset="-120"/>
              </a:rPr>
              <a:t>M. Navya, 124CS0001   ·   Sujal Negi, 123ME0023   ·   IIITDM Kurnool</a:t>
            </a:r>
            <a:endParaRPr lang="en-US" sz="1250" dirty="0"/>
          </a:p>
        </p:txBody>
      </p:sp>
      <p:sp>
        <p:nvSpPr>
          <p:cNvPr id="11" name="Text 9"/>
          <p:cNvSpPr/>
          <p:nvPr/>
        </p:nvSpPr>
        <p:spPr>
          <a:xfrm>
            <a:off x="822960" y="5760720"/>
            <a:ext cx="10515600" cy="329184"/>
          </a:xfrm>
          <a:prstGeom prst="rect">
            <a:avLst/>
          </a:prstGeom>
          <a:noFill/>
          <a:ln/>
        </p:spPr>
        <p:txBody>
          <a:bodyPr wrap="square" lIns="0" tIns="0" rIns="0" bIns="0" rtlCol="0" anchor="ctr"/>
          <a:lstStyle/>
          <a:p>
            <a:pPr indent="0" marL="0">
              <a:buNone/>
            </a:pPr>
            <a:r>
              <a:rPr lang="en-US" sz="1250" dirty="0">
                <a:solidFill>
                  <a:srgbClr val="8FB5AC"/>
                </a:solidFill>
                <a:latin typeface="Calibri" pitchFamily="34" charset="0"/>
                <a:ea typeface="Calibri" pitchFamily="34" charset="-122"/>
                <a:cs typeface="Calibri" pitchFamily="34" charset="-120"/>
              </a:rPr>
              <a:t>Team Nexara9   ·   github.com/sujal128005/limen   ·   covenant-j1op.onrender.com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Limen</dc:title>
  <dc:subject>PptxGenJS Presentation</dc:subject>
  <dc:creator>Nexara9</dc:creator>
  <cp:lastModifiedBy>Nexara9</cp:lastModifiedBy>
  <cp:revision>1</cp:revision>
  <dcterms:created xsi:type="dcterms:W3CDTF">2026-09-01T19:12:00Z</dcterms:created>
  <dcterms:modified xsi:type="dcterms:W3CDTF">2026-09-01T19:12:00Z</dcterms:modified>
</cp:coreProperties>
</file>